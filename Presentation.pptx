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  <p:sldMasterId id="2147483687" r:id="rId3"/>
    <p:sldMasterId id="2147483700" r:id="rId4"/>
  </p:sldMasterIdLst>
  <p:notesMasterIdLst>
    <p:notesMasterId r:id="rId77"/>
  </p:notesMasterIdLst>
  <p:sldIdLst>
    <p:sldId id="256" r:id="rId5"/>
    <p:sldId id="257" r:id="rId6"/>
    <p:sldId id="258" r:id="rId7"/>
    <p:sldId id="320" r:id="rId8"/>
    <p:sldId id="259" r:id="rId9"/>
    <p:sldId id="341" r:id="rId10"/>
    <p:sldId id="342" r:id="rId11"/>
    <p:sldId id="343" r:id="rId12"/>
    <p:sldId id="344" r:id="rId13"/>
    <p:sldId id="345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326" r:id="rId25"/>
    <p:sldId id="270" r:id="rId26"/>
    <p:sldId id="271" r:id="rId27"/>
    <p:sldId id="272" r:id="rId28"/>
    <p:sldId id="346" r:id="rId29"/>
    <p:sldId id="347" r:id="rId30"/>
    <p:sldId id="340" r:id="rId31"/>
    <p:sldId id="273" r:id="rId32"/>
    <p:sldId id="274" r:id="rId33"/>
    <p:sldId id="275" r:id="rId34"/>
    <p:sldId id="276" r:id="rId35"/>
    <p:sldId id="277" r:id="rId36"/>
    <p:sldId id="309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  <p:sldId id="339" r:id="rId49"/>
    <p:sldId id="327" r:id="rId50"/>
    <p:sldId id="322" r:id="rId51"/>
    <p:sldId id="321" r:id="rId52"/>
    <p:sldId id="323" r:id="rId53"/>
    <p:sldId id="310" r:id="rId54"/>
    <p:sldId id="318" r:id="rId55"/>
    <p:sldId id="319" r:id="rId56"/>
    <p:sldId id="348" r:id="rId57"/>
    <p:sldId id="349" r:id="rId58"/>
    <p:sldId id="350" r:id="rId59"/>
    <p:sldId id="351" r:id="rId60"/>
    <p:sldId id="352" r:id="rId61"/>
    <p:sldId id="353" r:id="rId62"/>
    <p:sldId id="360" r:id="rId63"/>
    <p:sldId id="312" r:id="rId64"/>
    <p:sldId id="354" r:id="rId65"/>
    <p:sldId id="355" r:id="rId66"/>
    <p:sldId id="356" r:id="rId67"/>
    <p:sldId id="314" r:id="rId68"/>
    <p:sldId id="313" r:id="rId69"/>
    <p:sldId id="357" r:id="rId70"/>
    <p:sldId id="316" r:id="rId71"/>
    <p:sldId id="317" r:id="rId72"/>
    <p:sldId id="359" r:id="rId73"/>
    <p:sldId id="358" r:id="rId74"/>
    <p:sldId id="315" r:id="rId75"/>
    <p:sldId id="279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790"/>
  </p:normalViewPr>
  <p:slideViewPr>
    <p:cSldViewPr snapToGrid="0">
      <p:cViewPr varScale="1">
        <p:scale>
          <a:sx n="113" d="100"/>
          <a:sy n="113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Click to move the slide</a:t>
            </a: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0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0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1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2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0E5DA7D-0996-4442-ABAD-4C69CAD2A49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28CE70-3D65-425F-9001-3A41374CB2A4}" type="slidenum">
              <a:rPr lang="en-US" sz="1200" b="0" strike="noStrike" spc="-1">
                <a:latin typeface="Times New Roman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5009BB-0505-4F2F-904E-2CF0D41739AE}" type="slidenum">
              <a:rPr lang="en-US" sz="1200" b="0" strike="noStrike" spc="-1">
                <a:latin typeface="Times New Roman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3B054F-6B57-4D42-B5BD-2A757B552A6E}" type="slidenum">
              <a:rPr lang="en-US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E93C-1FC7-F980-0C3D-D0C382C0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>
            <a:extLst>
              <a:ext uri="{FF2B5EF4-FFF2-40B4-BE49-F238E27FC236}">
                <a16:creationId xmlns:a16="http://schemas.microsoft.com/office/drawing/2014/main" id="{F8E75E92-E8AB-49E7-D28A-E14149698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>
            <a:extLst>
              <a:ext uri="{FF2B5EF4-FFF2-40B4-BE49-F238E27FC236}">
                <a16:creationId xmlns:a16="http://schemas.microsoft.com/office/drawing/2014/main" id="{FA78523C-B1C5-3637-7FE3-1122EC85C5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1" name="PlaceHolder 3">
            <a:extLst>
              <a:ext uri="{FF2B5EF4-FFF2-40B4-BE49-F238E27FC236}">
                <a16:creationId xmlns:a16="http://schemas.microsoft.com/office/drawing/2014/main" id="{DF0FF322-EF24-DC4B-A4AB-921666D0C184}"/>
              </a:ext>
            </a:extLst>
          </p:cNvPr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3B054F-6B57-4D42-B5BD-2A757B552A6E}" type="slidenum">
              <a:rPr lang="en-US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402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DC1E-99C5-FCAA-1B8E-70D385B5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>
            <a:extLst>
              <a:ext uri="{FF2B5EF4-FFF2-40B4-BE49-F238E27FC236}">
                <a16:creationId xmlns:a16="http://schemas.microsoft.com/office/drawing/2014/main" id="{A09DC863-6346-3201-1B93-6339677AF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>
            <a:extLst>
              <a:ext uri="{FF2B5EF4-FFF2-40B4-BE49-F238E27FC236}">
                <a16:creationId xmlns:a16="http://schemas.microsoft.com/office/drawing/2014/main" id="{21758599-C3D9-0B7F-B746-760741E40E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>
            <a:extLst>
              <a:ext uri="{FF2B5EF4-FFF2-40B4-BE49-F238E27FC236}">
                <a16:creationId xmlns:a16="http://schemas.microsoft.com/office/drawing/2014/main" id="{896AB2EA-8E3A-2337-B63E-B5C87130F635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43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839F-EA0A-87A4-7110-D7930198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>
            <a:extLst>
              <a:ext uri="{FF2B5EF4-FFF2-40B4-BE49-F238E27FC236}">
                <a16:creationId xmlns:a16="http://schemas.microsoft.com/office/drawing/2014/main" id="{618C9368-B0F6-30CC-1682-D10E7022F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>
            <a:extLst>
              <a:ext uri="{FF2B5EF4-FFF2-40B4-BE49-F238E27FC236}">
                <a16:creationId xmlns:a16="http://schemas.microsoft.com/office/drawing/2014/main" id="{2CF920AB-4D0D-F1A2-549A-9994AD198A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>
            <a:extLst>
              <a:ext uri="{FF2B5EF4-FFF2-40B4-BE49-F238E27FC236}">
                <a16:creationId xmlns:a16="http://schemas.microsoft.com/office/drawing/2014/main" id="{F7A1CE95-5E21-876D-AC2E-855E82D1ABAE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25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3294-A054-C2EF-DCEB-95393A31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>
            <a:extLst>
              <a:ext uri="{FF2B5EF4-FFF2-40B4-BE49-F238E27FC236}">
                <a16:creationId xmlns:a16="http://schemas.microsoft.com/office/drawing/2014/main" id="{649EDF88-999B-F777-127D-53F34DF65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>
            <a:extLst>
              <a:ext uri="{FF2B5EF4-FFF2-40B4-BE49-F238E27FC236}">
                <a16:creationId xmlns:a16="http://schemas.microsoft.com/office/drawing/2014/main" id="{7453032E-37BF-1839-7AC9-790ACB14AA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>
            <a:extLst>
              <a:ext uri="{FF2B5EF4-FFF2-40B4-BE49-F238E27FC236}">
                <a16:creationId xmlns:a16="http://schemas.microsoft.com/office/drawing/2014/main" id="{659CDB4F-A4FF-60EE-342B-6D1E34C9C11F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1032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42CE-4176-3DB8-E602-FCF1F062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>
            <a:extLst>
              <a:ext uri="{FF2B5EF4-FFF2-40B4-BE49-F238E27FC236}">
                <a16:creationId xmlns:a16="http://schemas.microsoft.com/office/drawing/2014/main" id="{1B9657DD-D8F0-421A-D4E3-CC35A719A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>
            <a:extLst>
              <a:ext uri="{FF2B5EF4-FFF2-40B4-BE49-F238E27FC236}">
                <a16:creationId xmlns:a16="http://schemas.microsoft.com/office/drawing/2014/main" id="{A72881B1-F8B3-034F-66BF-9916384B5C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>
            <a:extLst>
              <a:ext uri="{FF2B5EF4-FFF2-40B4-BE49-F238E27FC236}">
                <a16:creationId xmlns:a16="http://schemas.microsoft.com/office/drawing/2014/main" id="{BECCCEE5-FAAE-AF64-A121-D8D98C596FFC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0422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1D1E-18CF-8B66-2C09-22100888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>
            <a:extLst>
              <a:ext uri="{FF2B5EF4-FFF2-40B4-BE49-F238E27FC236}">
                <a16:creationId xmlns:a16="http://schemas.microsoft.com/office/drawing/2014/main" id="{A3AC463D-9BBA-F425-FB70-022FFBC68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>
            <a:extLst>
              <a:ext uri="{FF2B5EF4-FFF2-40B4-BE49-F238E27FC236}">
                <a16:creationId xmlns:a16="http://schemas.microsoft.com/office/drawing/2014/main" id="{467D79CD-DC70-2051-C91F-5C2CE774BC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4" name="PlaceHolder 3">
            <a:extLst>
              <a:ext uri="{FF2B5EF4-FFF2-40B4-BE49-F238E27FC236}">
                <a16:creationId xmlns:a16="http://schemas.microsoft.com/office/drawing/2014/main" id="{CCEDA1AE-C461-4F3B-0D9F-091659F71B5A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C8D87B-1467-49E4-9DC1-9C04E00FE82F}" type="slidenum">
              <a:rPr lang="en-US" sz="1200" b="0" strike="noStrike" spc="-1">
                <a:latin typeface="Times New Roman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0390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A2BE33-CEF9-4E26-ACE4-E8A766A1724F}" type="slidenum">
              <a:rPr lang="en-US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571393-7F3C-4BB2-A13A-63E46468EA10}" type="slidenum">
              <a:rPr lang="en-US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AA1B38-6C9C-48A7-AA35-3B48D3CDFE7C}" type="slidenum">
              <a:rPr lang="en-US" sz="1200" b="0" strike="noStrike" spc="-1">
                <a:latin typeface="Times New Roman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2921C2-3BEB-43AA-91E1-C56C111E8916}" type="slidenum">
              <a:rPr lang="en-US" sz="1200" b="0" strike="noStrike" spc="-1">
                <a:latin typeface="Times New Roman"/>
              </a:rPr>
              <a:t>20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2F35-59BA-47CB-FB9A-EC1A97FC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>
            <a:extLst>
              <a:ext uri="{FF2B5EF4-FFF2-40B4-BE49-F238E27FC236}">
                <a16:creationId xmlns:a16="http://schemas.microsoft.com/office/drawing/2014/main" id="{CFCF198C-7DFB-4F6F-8166-ED77034EB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>
            <a:extLst>
              <a:ext uri="{FF2B5EF4-FFF2-40B4-BE49-F238E27FC236}">
                <a16:creationId xmlns:a16="http://schemas.microsoft.com/office/drawing/2014/main" id="{3939CF6F-21A2-2BD0-27A1-90F6F8925E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6" name="PlaceHolder 3">
            <a:extLst>
              <a:ext uri="{FF2B5EF4-FFF2-40B4-BE49-F238E27FC236}">
                <a16:creationId xmlns:a16="http://schemas.microsoft.com/office/drawing/2014/main" id="{CA8F36FB-1D24-A0B6-6958-E1FA61F65442}"/>
              </a:ext>
            </a:extLst>
          </p:cNvPr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2921C2-3BEB-43AA-91E1-C56C111E8916}" type="slidenum">
              <a:rPr lang="en-US" sz="1200" b="0" strike="noStrike" spc="-1">
                <a:latin typeface="Times New Roman"/>
              </a:rPr>
              <a:t>21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3442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EF6D33-F4D0-4BBF-B41E-3B640B4E329F}" type="slidenum">
              <a:rPr lang="en-US" sz="1200" b="0" strike="noStrike" spc="-1">
                <a:latin typeface="Times New Roman"/>
              </a:rPr>
              <a:t>22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A44DC9-E62D-4FFF-B6AB-46DC3DEDF6A0}" type="slidenum">
              <a:rPr lang="en-US" sz="1200" b="0" strike="noStrike" spc="-1">
                <a:latin typeface="Times New Roman"/>
              </a:rPr>
              <a:t>23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1C7813-A72C-4E31-8EF7-1EE5FFB8E73C}" type="slidenum">
              <a:rPr lang="en-US" sz="1200" b="0" strike="noStrike" spc="-1">
                <a:latin typeface="Times New Roman"/>
              </a:rPr>
              <a:t>24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52257C-61F0-4B8F-A258-C17DAC0843EF}" type="slidenum">
              <a:rPr lang="en-US" sz="1200" b="0" strike="noStrike" spc="-1">
                <a:latin typeface="Times New Roman"/>
              </a:rPr>
              <a:t>28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A499BE-3F14-4B83-AABD-B6EF651A995E}" type="slidenum">
              <a:rPr lang="en-US" sz="1200" b="0" strike="noStrike" spc="-1">
                <a:latin typeface="Times New Roman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FEC843-E80B-4BD8-811A-C3EAFA80F082}" type="slidenum">
              <a:rPr lang="en-US" sz="1200" b="0" strike="noStrike" spc="-1">
                <a:latin typeface="Times New Roman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C45069-FC7A-4E21-824C-AD7D202123A3}" type="slidenum">
              <a:rPr lang="en-US" sz="1200" b="0" strike="noStrike" spc="-1">
                <a:latin typeface="Times New Roman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7EFD89-D619-4632-AFB3-1A10EF184ABD}" type="slidenum">
              <a:rPr lang="en-US" sz="1200" b="0" strike="noStrike" spc="-1">
                <a:latin typeface="Times New Roman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53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012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4910-ABBB-812A-8DE6-A42955A5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EBBBC-90C9-4756-5977-0947AF0E5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C687B-0CDF-B63C-AD02-8F87FC12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E928-DD02-2F00-BBB8-CB7786F28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62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9430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76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770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5B962E-94E6-4DBD-B7A9-67376CBD8BA8}" type="slidenum">
              <a:rPr lang="en-US" sz="1200" b="0" strike="noStrike" spc="-1">
                <a:latin typeface="Times New Roman"/>
              </a:rPr>
              <a:t>72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19F1B1A-B755-46EB-8FA9-098D3AA037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42DC3B0-CDBF-42CA-A143-A8F9BD306A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64A75252-8C23-435A-8311-775070CEDA8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CEF5E2A1-E42D-4211-981E-3B36AFB165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C6248B06-440E-42D0-9C68-D0923F70936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44C7427-8295-4438-8F75-DE0B56BB8B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B0E2FEA0-4DBD-4D77-B6C6-662BCCB753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B64D15BD-8FFC-4153-8E10-D8D6534077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DFE6D3F-011E-4C33-8C8E-9D55A11CE0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A899655-A5EB-4EDE-BD3D-3AF0B0B18B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A9B5397-ED65-47B3-B73C-D9293C30FBF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6A3A1649-204F-487D-99F9-1A17C3F72C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751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785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09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75D9869-90FD-4869-BF74-82AB53E557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40E60CF-CBDA-4679-A9A3-A68DC0C06D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B80C419-DD6B-416C-8809-FE4D2FCB5DC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7D9834-C022-4728-8575-4AAEF5EF42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0F8E73-9774-4E61-A6FD-6F28B410B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A17085-E3D0-4EF6-838D-769019EAD4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E0FC39-804D-4B63-B2FC-F4F4AE4105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1A319C-1C17-4C49-A01D-2AF8C1CFFD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2A8681-6BCF-4819-AE5B-0D3C2D87F1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FE932B-037A-4A99-A66F-0CA3780F4E2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D7DC02-3A3D-412E-B86A-93A0FB5F35B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931E6E5-8028-4343-902C-DBDB008B3C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441840" y="3329640"/>
            <a:ext cx="4941360" cy="3200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000000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  <p:pic>
        <p:nvPicPr>
          <p:cNvPr id="4" name="Graphic 7"/>
          <p:cNvPicPr/>
          <p:nvPr/>
        </p:nvPicPr>
        <p:blipFill>
          <a:blip r:embed="rId14"/>
          <a:srcRect l="9358" t="23650"/>
          <a:stretch/>
        </p:blipFill>
        <p:spPr>
          <a:xfrm>
            <a:off x="0" y="0"/>
            <a:ext cx="9487800" cy="50540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enorite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rgbClr val="000000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rgbClr val="000000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  <a:p>
            <a:pPr marL="56700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rgbClr val="000000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  <a:p>
            <a:pPr marL="859680" lvl="3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rgbClr val="000000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  <a:p>
            <a:pPr marL="1143000" lvl="4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rgbClr val="000000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Tenorite"/>
            </a:endParaRPr>
          </a:p>
        </p:txBody>
      </p:sp>
      <p:grpSp>
        <p:nvGrpSpPr>
          <p:cNvPr id="85" name="Group 8"/>
          <p:cNvGrpSpPr/>
          <p:nvPr/>
        </p:nvGrpSpPr>
        <p:grpSpPr>
          <a:xfrm>
            <a:off x="9096120" y="-25200"/>
            <a:ext cx="3095640" cy="6883200"/>
            <a:chOff x="9096120" y="-25200"/>
            <a:chExt cx="3095640" cy="6883200"/>
          </a:xfrm>
        </p:grpSpPr>
        <p:sp>
          <p:nvSpPr>
            <p:cNvPr id="86" name="Straight Connector 9"/>
            <p:cNvSpPr/>
            <p:nvPr/>
          </p:nvSpPr>
          <p:spPr>
            <a:xfrm>
              <a:off x="9096120" y="1496880"/>
              <a:ext cx="309564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Straight Connector 10"/>
            <p:cNvSpPr/>
            <p:nvPr/>
          </p:nvSpPr>
          <p:spPr>
            <a:xfrm flipH="1">
              <a:off x="9381600" y="-25200"/>
              <a:ext cx="2810160" cy="68832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88" name="Straight Connector 11"/>
          <p:cNvSpPr/>
          <p:nvPr/>
        </p:nvSpPr>
        <p:spPr>
          <a:xfrm flipV="1">
            <a:off x="0" y="-25200"/>
            <a:ext cx="1210320" cy="204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9" name="PlaceHolder 3"/>
          <p:cNvSpPr>
            <a:spLocks noGrp="1"/>
          </p:cNvSpPr>
          <p:nvPr>
            <p:ph type="ftr" idx="3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enorite"/>
              </a:rPr>
              <a:t>&lt;footer&gt;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83774D-E073-4AAB-9FCB-6FFA6F16EFFB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13" r:id="rId13"/>
    <p:sldLayoutId id="2147483714" r:id="rId14"/>
    <p:sldLayoutId id="214748371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991200" y="406440"/>
            <a:ext cx="4179240" cy="3457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  <p:pic>
        <p:nvPicPr>
          <p:cNvPr id="128" name="Graphic 3"/>
          <p:cNvPicPr/>
          <p:nvPr/>
        </p:nvPicPr>
        <p:blipFill>
          <a:blip r:embed="rId14"/>
          <a:stretch/>
        </p:blipFill>
        <p:spPr>
          <a:xfrm>
            <a:off x="0" y="828720"/>
            <a:ext cx="5876640" cy="5200200"/>
          </a:xfrm>
          <a:prstGeom prst="rect">
            <a:avLst/>
          </a:prstGeom>
          <a:ln w="0">
            <a:noFill/>
          </a:ln>
        </p:spPr>
      </p:pic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enorite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  <p:pic>
        <p:nvPicPr>
          <p:cNvPr id="167" name="Graphic 5"/>
          <p:cNvPicPr/>
          <p:nvPr/>
        </p:nvPicPr>
        <p:blipFill>
          <a:blip r:embed="rId14"/>
          <a:stretch/>
        </p:blipFill>
        <p:spPr>
          <a:xfrm>
            <a:off x="0" y="0"/>
            <a:ext cx="3176640" cy="6857640"/>
          </a:xfrm>
          <a:prstGeom prst="rect">
            <a:avLst/>
          </a:prstGeom>
          <a:ln w="0">
            <a:noFill/>
          </a:ln>
        </p:spPr>
      </p:pic>
      <p:sp>
        <p:nvSpPr>
          <p:cNvPr id="168" name="PlaceHolder 2"/>
          <p:cNvSpPr>
            <a:spLocks noGrp="1"/>
          </p:cNvSpPr>
          <p:nvPr>
            <p:ph type="ftr" idx="5"/>
          </p:nvPr>
        </p:nvSpPr>
        <p:spPr>
          <a:xfrm>
            <a:off x="4267080" y="6356520"/>
            <a:ext cx="41792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enorite"/>
              </a:rPr>
              <a:t>&lt;footer&gt;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6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119D40-6128-4B79-BA91-62B3A96DEB0E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enorite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enorit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png"/><Relationship Id="rId4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1.xml"/><Relationship Id="rId4" Type="http://schemas.openxmlformats.org/officeDocument/2006/relationships/hyperlink" Target="https://git-scm.com/book/en/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424160" y="4709880"/>
            <a:ext cx="7256160" cy="215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1" strike="noStrike" cap="all" spc="148" dirty="0">
                <a:solidFill>
                  <a:srgbClr val="000000"/>
                </a:solidFill>
                <a:latin typeface="Tenorite"/>
                <a:ea typeface="Tenorite"/>
              </a:rPr>
              <a:t>Version Control and GitHub </a:t>
            </a:r>
            <a:endParaRPr lang="en-US" sz="3600" b="0" strike="noStrike" spc="-1" dirty="0">
              <a:solidFill>
                <a:srgbClr val="000000"/>
              </a:solidFill>
              <a:latin typeface="Tenorite"/>
            </a:endParaRPr>
          </a:p>
          <a:p>
            <a:pPr>
              <a:lnSpc>
                <a:spcPct val="90000"/>
              </a:lnSpc>
              <a:buNone/>
            </a:pPr>
            <a:r>
              <a:rPr lang="en-US" sz="3600" b="0" strike="noStrike" cap="all" spc="148" dirty="0">
                <a:solidFill>
                  <a:srgbClr val="000000"/>
                </a:solidFill>
                <a:latin typeface="Tenorite"/>
                <a:ea typeface="Tenorite"/>
              </a:rPr>
              <a:t>GitHub Workshop</a:t>
            </a:r>
            <a:endParaRPr lang="en-US" sz="36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pic>
        <p:nvPicPr>
          <p:cNvPr id="214" name="Picture 4" descr="A black and white cat logo&#10;&#10;Description automatically generated"/>
          <p:cNvPicPr/>
          <p:nvPr/>
        </p:nvPicPr>
        <p:blipFill>
          <a:blip r:embed="rId3"/>
          <a:stretch/>
        </p:blipFill>
        <p:spPr>
          <a:xfrm>
            <a:off x="6994440" y="574920"/>
            <a:ext cx="3838320" cy="3838320"/>
          </a:xfrm>
          <a:prstGeom prst="rect">
            <a:avLst/>
          </a:prstGeom>
          <a:ln w="0">
            <a:noFill/>
          </a:ln>
        </p:spPr>
      </p:pic>
      <p:sp>
        <p:nvSpPr>
          <p:cNvPr id="215" name="TextBox 5"/>
          <p:cNvSpPr/>
          <p:nvPr/>
        </p:nvSpPr>
        <p:spPr>
          <a:xfrm>
            <a:off x="9296280" y="5457600"/>
            <a:ext cx="2742840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Cassandra Hui, Ph.D.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26 March 2026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6" name="Straight Arrow Connector 6"/>
          <p:cNvSpPr/>
          <p:nvPr/>
        </p:nvSpPr>
        <p:spPr>
          <a:xfrm>
            <a:off x="5638680" y="297180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7" name="Straight Arrow Connector 7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8" name="Straight Arrow Connector 8"/>
          <p:cNvSpPr/>
          <p:nvPr/>
        </p:nvSpPr>
        <p:spPr>
          <a:xfrm>
            <a:off x="8958240" y="4939560"/>
            <a:ext cx="22680" cy="1503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 idx="4294967295"/>
          </p:nvPr>
        </p:nvSpPr>
        <p:spPr>
          <a:xfrm>
            <a:off x="7911548" y="136525"/>
            <a:ext cx="4179888" cy="106611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trike="noStrike" cap="all" spc="148" dirty="0">
                <a:solidFill>
                  <a:schemeClr val="bg1"/>
                </a:solidFill>
                <a:latin typeface="Tenorite"/>
              </a:rPr>
              <a:t>Outline</a:t>
            </a:r>
            <a:endParaRPr lang="en-US" sz="4000" b="0" strike="noStrike" spc="-1" dirty="0">
              <a:solidFill>
                <a:schemeClr val="bg1"/>
              </a:solidFill>
              <a:latin typeface="Tenorite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4294967295"/>
          </p:nvPr>
        </p:nvSpPr>
        <p:spPr>
          <a:xfrm>
            <a:off x="11204575" y="6356350"/>
            <a:ext cx="987425" cy="365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spcAft>
                <a:spcPts val="601"/>
              </a:spcAft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spcAft>
                <a:spcPts val="601"/>
              </a:spcAft>
              <a:buNone/>
            </a:pPr>
            <a:fld id="{674255AF-EED8-4E67-A0AF-1B92EEA79620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34C01-6D04-65D2-6BCB-670FAC965B6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36357" y="1086679"/>
            <a:ext cx="6355644" cy="5433392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Version Control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Git and GitHub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What is Cloning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Collaboration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Branching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GitHub Pages: Making your own website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Version Control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848224" cy="3406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49" dirty="0">
                <a:solidFill>
                  <a:srgbClr val="000000"/>
                </a:solidFill>
                <a:latin typeface="Tenorite" pitchFamily="2" charset="0"/>
                <a:ea typeface="Tenorite"/>
              </a:rPr>
              <a:t>A system that records your files over time.</a:t>
            </a:r>
            <a:endParaRPr lang="en-US" sz="2400" b="0" strike="noStrike" spc="-1" dirty="0">
              <a:solidFill>
                <a:srgbClr val="000000"/>
              </a:solidFill>
              <a:latin typeface="Tenorite" pitchFamily="2" charset="0"/>
            </a:endParaRPr>
          </a:p>
          <a:p>
            <a:pPr>
              <a:spcBef>
                <a:spcPts val="900"/>
              </a:spcBef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Collaboration: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 Multiple people can work on the same project simultaneously without overwriting each other’s work.</a:t>
            </a:r>
          </a:p>
          <a:p>
            <a:pPr>
              <a:spcBef>
                <a:spcPts val="900"/>
              </a:spcBef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History Tracking: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 Keeps a record of changes, so you can revert to earlier versions if something goes wrong.</a:t>
            </a: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Tenorite" pitchFamily="2" charset="0"/>
            </a:endParaRPr>
          </a:p>
          <a:p>
            <a:pPr>
              <a:spcBef>
                <a:spcPts val="900"/>
              </a:spcBef>
            </a:pPr>
            <a:r>
              <a:rPr lang="en-US" sz="2400" b="0" strike="noStrike" spc="49" dirty="0">
                <a:solidFill>
                  <a:srgbClr val="000000"/>
                </a:solidFill>
                <a:latin typeface="Tenorite" pitchFamily="2" charset="0"/>
                <a:ea typeface="Tenorite"/>
              </a:rPr>
              <a:t>Example: 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“Track changes” in Microsoft Word and  “Undo” feature in any software.</a:t>
            </a: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Tenorite" pitchFamily="2" charset="0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Aft>
                <a:spcPts val="601"/>
              </a:spcAft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spcAft>
                <a:spcPts val="601"/>
              </a:spcAft>
              <a:buNone/>
            </a:pPr>
            <a:fld id="{CE2930F9-F0AF-42D9-8CD8-8D87D7F5F4C7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3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7B9E-ECDC-99AE-0332-451465FF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>
            <a:extLst>
              <a:ext uri="{FF2B5EF4-FFF2-40B4-BE49-F238E27FC236}">
                <a16:creationId xmlns:a16="http://schemas.microsoft.com/office/drawing/2014/main" id="{34EDADC6-223F-978E-E887-F48E66F6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Version Control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2" name="PlaceHolder 2">
            <a:extLst>
              <a:ext uri="{FF2B5EF4-FFF2-40B4-BE49-F238E27FC236}">
                <a16:creationId xmlns:a16="http://schemas.microsoft.com/office/drawing/2014/main" id="{39CE333A-3F1E-175C-0B53-81A3B51B1FC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22280" y="3021496"/>
            <a:ext cx="3945240" cy="314818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Example: Google Docs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3" name="PlaceHolder 3">
            <a:extLst>
              <a:ext uri="{FF2B5EF4-FFF2-40B4-BE49-F238E27FC236}">
                <a16:creationId xmlns:a16="http://schemas.microsoft.com/office/drawing/2014/main" id="{7EEFE8EA-14BF-3F25-89B0-DFBCB50CBEA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Aft>
                <a:spcPts val="601"/>
              </a:spcAft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spcAft>
                <a:spcPts val="601"/>
              </a:spcAft>
              <a:buNone/>
            </a:pPr>
            <a:fld id="{CE2930F9-F0AF-42D9-8CD8-8D87D7F5F4C7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4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4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C9A473A-6ED3-6396-CE8C-B880CB200C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271480" y="447120"/>
            <a:ext cx="6657840" cy="60955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64449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5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/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/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C836-C36F-EB5F-8D34-97336370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>
            <a:extLst>
              <a:ext uri="{FF2B5EF4-FFF2-40B4-BE49-F238E27FC236}">
                <a16:creationId xmlns:a16="http://schemas.microsoft.com/office/drawing/2014/main" id="{68303623-D4CA-69DF-DD1E-522EED2C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>
            <a:extLst>
              <a:ext uri="{FF2B5EF4-FFF2-40B4-BE49-F238E27FC236}">
                <a16:creationId xmlns:a16="http://schemas.microsoft.com/office/drawing/2014/main" id="{FBB90492-B950-FB9A-A58C-AF18A661C0B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>
            <a:extLst>
              <a:ext uri="{FF2B5EF4-FFF2-40B4-BE49-F238E27FC236}">
                <a16:creationId xmlns:a16="http://schemas.microsoft.com/office/drawing/2014/main" id="{AB892D7B-DEA5-7E95-6F25-4B76B503DD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6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>
            <a:extLst>
              <a:ext uri="{FF2B5EF4-FFF2-40B4-BE49-F238E27FC236}">
                <a16:creationId xmlns:a16="http://schemas.microsoft.com/office/drawing/2014/main" id="{63D208B9-A483-5D5F-6618-7C2F175751B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8C172EC4-AF54-E67B-1733-CFA8846E3AA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2D8374-1385-FEC3-64E7-9C7C97698B3F}"/>
              </a:ext>
            </a:extLst>
          </p:cNvPr>
          <p:cNvSpPr/>
          <p:nvPr/>
        </p:nvSpPr>
        <p:spPr>
          <a:xfrm>
            <a:off x="5088835" y="3187080"/>
            <a:ext cx="1232452" cy="27233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9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D476F-F071-88E8-1501-9DA96437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>
            <a:extLst>
              <a:ext uri="{FF2B5EF4-FFF2-40B4-BE49-F238E27FC236}">
                <a16:creationId xmlns:a16="http://schemas.microsoft.com/office/drawing/2014/main" id="{ABCC43E2-D00A-DC93-1A18-EB213DF3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>
            <a:extLst>
              <a:ext uri="{FF2B5EF4-FFF2-40B4-BE49-F238E27FC236}">
                <a16:creationId xmlns:a16="http://schemas.microsoft.com/office/drawing/2014/main" id="{675D79F8-5AAC-8EB1-55A4-965F6BA7354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>
            <a:extLst>
              <a:ext uri="{FF2B5EF4-FFF2-40B4-BE49-F238E27FC236}">
                <a16:creationId xmlns:a16="http://schemas.microsoft.com/office/drawing/2014/main" id="{7F4E35E7-2D97-AB06-AA00-2B2E383046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7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>
            <a:extLst>
              <a:ext uri="{FF2B5EF4-FFF2-40B4-BE49-F238E27FC236}">
                <a16:creationId xmlns:a16="http://schemas.microsoft.com/office/drawing/2014/main" id="{32E771D0-0E27-8E55-10C4-07D3F021B74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493AF4BF-0E4F-1668-0877-6837F4B9CA3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CC1F38-23C4-FC21-45AA-73753E636248}"/>
              </a:ext>
            </a:extLst>
          </p:cNvPr>
          <p:cNvSpPr/>
          <p:nvPr/>
        </p:nvSpPr>
        <p:spPr>
          <a:xfrm>
            <a:off x="6422580" y="3187080"/>
            <a:ext cx="1232452" cy="27233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0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4882-C016-FA56-48DB-0A12A208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>
            <a:extLst>
              <a:ext uri="{FF2B5EF4-FFF2-40B4-BE49-F238E27FC236}">
                <a16:creationId xmlns:a16="http://schemas.microsoft.com/office/drawing/2014/main" id="{A3A44F66-FDB7-BFDD-418F-D3091D358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>
            <a:extLst>
              <a:ext uri="{FF2B5EF4-FFF2-40B4-BE49-F238E27FC236}">
                <a16:creationId xmlns:a16="http://schemas.microsoft.com/office/drawing/2014/main" id="{6A2DEDFE-DCEB-AB6D-72B3-44A7BC95070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>
            <a:extLst>
              <a:ext uri="{FF2B5EF4-FFF2-40B4-BE49-F238E27FC236}">
                <a16:creationId xmlns:a16="http://schemas.microsoft.com/office/drawing/2014/main" id="{BAC65308-5993-4AD5-B79B-B41A56BBD4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8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>
            <a:extLst>
              <a:ext uri="{FF2B5EF4-FFF2-40B4-BE49-F238E27FC236}">
                <a16:creationId xmlns:a16="http://schemas.microsoft.com/office/drawing/2014/main" id="{524C319A-3E52-C094-3D97-B77D21BEF7D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1B2AAB2A-2963-BE6E-43DF-7874757DE2A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9166EB-7B21-2F4E-153D-47ABEFF54337}"/>
              </a:ext>
            </a:extLst>
          </p:cNvPr>
          <p:cNvSpPr/>
          <p:nvPr/>
        </p:nvSpPr>
        <p:spPr>
          <a:xfrm>
            <a:off x="7734694" y="3187080"/>
            <a:ext cx="1232452" cy="27233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A4F1-02BA-EB53-795C-AFFD4FCE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>
            <a:extLst>
              <a:ext uri="{FF2B5EF4-FFF2-40B4-BE49-F238E27FC236}">
                <a16:creationId xmlns:a16="http://schemas.microsoft.com/office/drawing/2014/main" id="{6643E5F8-6249-69B8-8864-A66AF377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>
            <a:extLst>
              <a:ext uri="{FF2B5EF4-FFF2-40B4-BE49-F238E27FC236}">
                <a16:creationId xmlns:a16="http://schemas.microsoft.com/office/drawing/2014/main" id="{E16B395B-A6C5-6347-75C3-746339F9CF1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>
            <a:extLst>
              <a:ext uri="{FF2B5EF4-FFF2-40B4-BE49-F238E27FC236}">
                <a16:creationId xmlns:a16="http://schemas.microsoft.com/office/drawing/2014/main" id="{4C0FF6BC-31C6-6BB5-5223-25D95EAFB3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9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>
            <a:extLst>
              <a:ext uri="{FF2B5EF4-FFF2-40B4-BE49-F238E27FC236}">
                <a16:creationId xmlns:a16="http://schemas.microsoft.com/office/drawing/2014/main" id="{86436075-C55A-B1E8-A3B6-7B6BE7C952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9C73AF84-EB46-FA03-5031-5A25904BE6D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FC14BC-A00F-81DB-3567-EBFF3E9CC60C}"/>
              </a:ext>
            </a:extLst>
          </p:cNvPr>
          <p:cNvSpPr/>
          <p:nvPr/>
        </p:nvSpPr>
        <p:spPr>
          <a:xfrm>
            <a:off x="9039881" y="3187080"/>
            <a:ext cx="1232452" cy="27233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1CE2C-A6A7-1BD1-A55E-2FEF8D67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>
            <a:extLst>
              <a:ext uri="{FF2B5EF4-FFF2-40B4-BE49-F238E27FC236}">
                <a16:creationId xmlns:a16="http://schemas.microsoft.com/office/drawing/2014/main" id="{41CD1C21-D840-650F-E42C-7935DEC7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Calibri"/>
                <a:ea typeface="Calibri"/>
              </a:rPr>
              <a:t>Git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2">
            <a:extLst>
              <a:ext uri="{FF2B5EF4-FFF2-40B4-BE49-F238E27FC236}">
                <a16:creationId xmlns:a16="http://schemas.microsoft.com/office/drawing/2014/main" id="{96C9C126-A3C8-3C08-7FFE-6BA4AC1FA52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75573" y="2388960"/>
            <a:ext cx="4692787" cy="420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Git is a version </a:t>
            </a:r>
            <a:r>
              <a:rPr lang="en-US" spc="49" dirty="0">
                <a:solidFill>
                  <a:srgbClr val="000000"/>
                </a:solidFill>
                <a:latin typeface="Tenorite"/>
                <a:ea typeface="Tenorite"/>
              </a:rPr>
              <a:t>c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ontrol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49" dirty="0">
                <a:solidFill>
                  <a:srgbClr val="000000"/>
                </a:solidFill>
                <a:latin typeface="Tenorite"/>
              </a:rPr>
              <a:t>It tracks changes to files and allows 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Allows you to work offline and sync changes later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Commits create “snapshots” of the entire project, not just the differences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Can be stored in a remote location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3">
            <a:extLst>
              <a:ext uri="{FF2B5EF4-FFF2-40B4-BE49-F238E27FC236}">
                <a16:creationId xmlns:a16="http://schemas.microsoft.com/office/drawing/2014/main" id="{47352189-BC25-483C-7D34-8223879686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F2FE8-BB39-4674-A735-FCC88774BB22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10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28" name="Picture 3" descr="Git">
            <a:extLst>
              <a:ext uri="{FF2B5EF4-FFF2-40B4-BE49-F238E27FC236}">
                <a16:creationId xmlns:a16="http://schemas.microsoft.com/office/drawing/2014/main" id="{99023D7C-BF8D-B3D3-81C7-18E89CA2A12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94240" y="645480"/>
            <a:ext cx="3856680" cy="153900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F44B5DB2-F0C9-A55B-964C-CE16A59348E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63320" y="3187080"/>
            <a:ext cx="6619680" cy="25617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48DB64-3022-5B10-BD46-14ECBF833EA4}"/>
              </a:ext>
            </a:extLst>
          </p:cNvPr>
          <p:cNvSpPr/>
          <p:nvPr/>
        </p:nvSpPr>
        <p:spPr>
          <a:xfrm>
            <a:off x="10334111" y="3187080"/>
            <a:ext cx="1232452" cy="27233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3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322280" y="1130940"/>
            <a:ext cx="7287840" cy="12634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</a:rPr>
              <a:t>GitHub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526850" y="2794140"/>
            <a:ext cx="3645370" cy="39270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Platform for hosting Git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Online (Remote) and free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Collaboration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Find other repositories (Course Materials)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Personal Portfolio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3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CFF417-C11E-4F7C-AC7E-28E0076EEED7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11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33" name="Picture 3" descr="A screenshot of a computer&#10;&#10;Description automatically generated"/>
          <p:cNvPicPr/>
          <p:nvPr/>
        </p:nvPicPr>
        <p:blipFill>
          <a:blip r:embed="rId3"/>
          <a:stretch/>
        </p:blipFill>
        <p:spPr>
          <a:xfrm>
            <a:off x="4966200" y="0"/>
            <a:ext cx="9149997" cy="8809463"/>
          </a:xfrm>
          <a:prstGeom prst="rect">
            <a:avLst/>
          </a:prstGeom>
          <a:ln w="0">
            <a:noFill/>
          </a:ln>
        </p:spPr>
      </p:pic>
      <p:sp>
        <p:nvSpPr>
          <p:cNvPr id="234" name="Rectangle 4"/>
          <p:cNvSpPr/>
          <p:nvPr/>
        </p:nvSpPr>
        <p:spPr>
          <a:xfrm>
            <a:off x="5860150" y="904500"/>
            <a:ext cx="1477352" cy="2264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5" name="Arrow: Right 5"/>
          <p:cNvSpPr/>
          <p:nvPr/>
        </p:nvSpPr>
        <p:spPr>
          <a:xfrm>
            <a:off x="4561657" y="904500"/>
            <a:ext cx="385560" cy="266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9E6D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TextBox 6"/>
          <p:cNvSpPr/>
          <p:nvPr/>
        </p:nvSpPr>
        <p:spPr>
          <a:xfrm>
            <a:off x="2205680" y="821446"/>
            <a:ext cx="238185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wrap="square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000000"/>
                </a:solidFill>
                <a:latin typeface="Tenorite"/>
              </a:rPr>
              <a:t>User/Repository 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237" name="Rectangle 7"/>
          <p:cNvSpPr/>
          <p:nvPr/>
        </p:nvSpPr>
        <p:spPr>
          <a:xfrm>
            <a:off x="5208406" y="3240505"/>
            <a:ext cx="1477351" cy="1376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Arrow: Right 8"/>
          <p:cNvSpPr/>
          <p:nvPr/>
        </p:nvSpPr>
        <p:spPr>
          <a:xfrm>
            <a:off x="4566420" y="3753360"/>
            <a:ext cx="385560" cy="266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9E6D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TextBox 9"/>
          <p:cNvSpPr/>
          <p:nvPr/>
        </p:nvSpPr>
        <p:spPr>
          <a:xfrm>
            <a:off x="3785977" y="3655907"/>
            <a:ext cx="801555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wrap="square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000000"/>
                </a:solidFill>
                <a:latin typeface="Tenorite"/>
              </a:rPr>
              <a:t>Files</a:t>
            </a:r>
            <a:r>
              <a:rPr lang="en-US" sz="1800" b="1" strike="noStrike" spc="-1" dirty="0">
                <a:solidFill>
                  <a:srgbClr val="000000"/>
                </a:solidFill>
                <a:latin typeface="Tenorite"/>
              </a:rPr>
              <a:t> 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40" name="Picture 11" descr="A black and white cat logo&#10;&#10;Description automatically generated"/>
          <p:cNvPicPr/>
          <p:nvPr/>
        </p:nvPicPr>
        <p:blipFill>
          <a:blip r:embed="rId4"/>
          <a:stretch/>
        </p:blipFill>
        <p:spPr>
          <a:xfrm>
            <a:off x="448920" y="1942370"/>
            <a:ext cx="554400" cy="55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759383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</a:rPr>
              <a:t>GitHub Definitions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1322279" y="2141951"/>
            <a:ext cx="8097293" cy="444784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lstStyle/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Repository: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 A file of files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Clone: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 Create an exact copy of your repository on your local computer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Pull: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 Pulls new content from a remote repository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Push: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 Pushes new content from your local computer to a remote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Branching: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 Duplicates an exact copy a repository in the same repository and allows you to make changes without altering the main</a:t>
            </a: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1" strike="noStrike" spc="49" dirty="0">
                <a:solidFill>
                  <a:srgbClr val="000000"/>
                </a:solidFill>
                <a:latin typeface="Tenorite"/>
              </a:rPr>
              <a:t>GitHub Pages: 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</a:rPr>
              <a:t>A static site hosting service (website)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14DAA1-CD05-446D-8EF0-F9926FBF6494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12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  <a:ea typeface="Tenorite"/>
              </a:rPr>
              <a:t>What is a repository?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49" dirty="0">
                <a:solidFill>
                  <a:srgbClr val="000000"/>
                </a:solidFill>
                <a:latin typeface="Tenorite"/>
              </a:rPr>
              <a:t>A file of files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Location where items are stored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This can be on: 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Your personal computer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Remote location 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Both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5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85FE5A-6F60-4415-9530-28E042B4BEA3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13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8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49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0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1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52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253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254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5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6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7" name="Straight Arrow Connector 50"/>
          <p:cNvSpPr/>
          <p:nvPr/>
        </p:nvSpPr>
        <p:spPr>
          <a:xfrm flipV="1">
            <a:off x="6129360" y="3228840"/>
            <a:ext cx="2067840" cy="195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8" name="Straight Arrow Connector 51"/>
          <p:cNvSpPr/>
          <p:nvPr/>
        </p:nvSpPr>
        <p:spPr>
          <a:xfrm>
            <a:off x="6187320" y="5464800"/>
            <a:ext cx="1975320" cy="199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9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0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61" name="Oval 12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2" name="Graphic 27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263" name="TextBox 29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64" name="Graphic 31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265" name="Graphic 33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266" name="TextBox 35"/>
          <p:cNvSpPr/>
          <p:nvPr/>
        </p:nvSpPr>
        <p:spPr>
          <a:xfrm>
            <a:off x="8976600" y="4257000"/>
            <a:ext cx="124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67" name="TextBox 37"/>
          <p:cNvSpPr/>
          <p:nvPr/>
        </p:nvSpPr>
        <p:spPr>
          <a:xfrm>
            <a:off x="8949240" y="4719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9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0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1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2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274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275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6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7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8" name="Straight Arrow Connector 50"/>
          <p:cNvSpPr/>
          <p:nvPr/>
        </p:nvSpPr>
        <p:spPr>
          <a:xfrm flipV="1">
            <a:off x="6129360" y="3228840"/>
            <a:ext cx="2067840" cy="195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9" name="Straight Arrow Connector 51"/>
          <p:cNvSpPr/>
          <p:nvPr/>
        </p:nvSpPr>
        <p:spPr>
          <a:xfrm>
            <a:off x="6187320" y="5464800"/>
            <a:ext cx="1975320" cy="199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0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1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2" name="Oval 12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3" name="Rectangle: Rounded Corners 6"/>
          <p:cNvSpPr/>
          <p:nvPr/>
        </p:nvSpPr>
        <p:spPr>
          <a:xfrm>
            <a:off x="3807360" y="5135400"/>
            <a:ext cx="1632600" cy="47448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Tenorite"/>
              </a:rPr>
              <a:t>Commit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4" name="Arrow: Right 14"/>
          <p:cNvSpPr/>
          <p:nvPr/>
        </p:nvSpPr>
        <p:spPr>
          <a:xfrm>
            <a:off x="5436360" y="5319000"/>
            <a:ext cx="370440" cy="11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5" name="Graphic 27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286" name="TextBox 29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87" name="Graphic 31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288" name="Graphic 33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289" name="TextBox 35"/>
          <p:cNvSpPr/>
          <p:nvPr/>
        </p:nvSpPr>
        <p:spPr>
          <a:xfrm>
            <a:off x="8976600" y="4257000"/>
            <a:ext cx="124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0" name="TextBox 37"/>
          <p:cNvSpPr/>
          <p:nvPr/>
        </p:nvSpPr>
        <p:spPr>
          <a:xfrm>
            <a:off x="8949240" y="4719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3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4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5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96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297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298" name="Oval 14"/>
          <p:cNvSpPr/>
          <p:nvPr/>
        </p:nvSpPr>
        <p:spPr>
          <a:xfrm>
            <a:off x="2889720" y="52153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9" name="TextBox 15"/>
          <p:cNvSpPr/>
          <p:nvPr/>
        </p:nvSpPr>
        <p:spPr>
          <a:xfrm>
            <a:off x="3750120" y="5101380"/>
            <a:ext cx="880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FF0000"/>
                </a:solidFill>
                <a:latin typeface="Tenorite"/>
              </a:rPr>
              <a:t>Clone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00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1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2" name="Arrow: Right 18"/>
          <p:cNvSpPr/>
          <p:nvPr/>
        </p:nvSpPr>
        <p:spPr>
          <a:xfrm rot="10800000">
            <a:off x="3572640" y="541368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3" name="Oval 19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4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5" name="Straight Arrow Connector 50"/>
          <p:cNvSpPr/>
          <p:nvPr/>
        </p:nvSpPr>
        <p:spPr>
          <a:xfrm flipV="1">
            <a:off x="6165000" y="3295800"/>
            <a:ext cx="2020680" cy="1960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6" name="Straight Arrow Connector 51"/>
          <p:cNvSpPr/>
          <p:nvPr/>
        </p:nvSpPr>
        <p:spPr>
          <a:xfrm>
            <a:off x="6174000" y="5421240"/>
            <a:ext cx="2075040" cy="242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7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09" name="Graphic 28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310" name="TextBox 30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11" name="Graphic 32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312" name="Graphic 34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313" name="TextBox 36"/>
          <p:cNvSpPr/>
          <p:nvPr/>
        </p:nvSpPr>
        <p:spPr>
          <a:xfrm>
            <a:off x="8976600" y="4257000"/>
            <a:ext cx="124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4" name="TextBox 38"/>
          <p:cNvSpPr/>
          <p:nvPr/>
        </p:nvSpPr>
        <p:spPr>
          <a:xfrm>
            <a:off x="8949240" y="4719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6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8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9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20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321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322" name="Oval 14"/>
          <p:cNvSpPr/>
          <p:nvPr/>
        </p:nvSpPr>
        <p:spPr>
          <a:xfrm>
            <a:off x="2889720" y="52153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3" name="TextBox 15"/>
          <p:cNvSpPr/>
          <p:nvPr/>
        </p:nvSpPr>
        <p:spPr>
          <a:xfrm>
            <a:off x="3681360" y="5142512"/>
            <a:ext cx="88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Clone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24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5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Arrow: Right 18"/>
          <p:cNvSpPr/>
          <p:nvPr/>
        </p:nvSpPr>
        <p:spPr>
          <a:xfrm rot="10800000">
            <a:off x="3572640" y="541368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7" name="Oval 19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9" name="Straight Arrow Connector 44"/>
          <p:cNvSpPr/>
          <p:nvPr/>
        </p:nvSpPr>
        <p:spPr>
          <a:xfrm>
            <a:off x="3043440" y="4886640"/>
            <a:ext cx="36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0" name="Oval 45"/>
          <p:cNvSpPr/>
          <p:nvPr/>
        </p:nvSpPr>
        <p:spPr>
          <a:xfrm>
            <a:off x="2889720" y="460908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1" name="Straight Arrow Connector 50"/>
          <p:cNvSpPr/>
          <p:nvPr/>
        </p:nvSpPr>
        <p:spPr>
          <a:xfrm flipV="1">
            <a:off x="6165000" y="3295800"/>
            <a:ext cx="2020680" cy="1960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2" name="Straight Arrow Connector 51"/>
          <p:cNvSpPr/>
          <p:nvPr/>
        </p:nvSpPr>
        <p:spPr>
          <a:xfrm>
            <a:off x="6174000" y="5421240"/>
            <a:ext cx="2075040" cy="242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3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4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35" name="Graphic 54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336" name="TextBox 55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37" name="Graphic 56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338" name="Graphic 57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339" name="TextBox 58"/>
          <p:cNvSpPr/>
          <p:nvPr/>
        </p:nvSpPr>
        <p:spPr>
          <a:xfrm>
            <a:off x="8976600" y="4257000"/>
            <a:ext cx="124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0" name="TextBox 59"/>
          <p:cNvSpPr/>
          <p:nvPr/>
        </p:nvSpPr>
        <p:spPr>
          <a:xfrm>
            <a:off x="8949240" y="4719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1" name="Arrow: Right 3"/>
          <p:cNvSpPr/>
          <p:nvPr/>
        </p:nvSpPr>
        <p:spPr>
          <a:xfrm rot="2640000">
            <a:off x="2330640" y="4393800"/>
            <a:ext cx="624240" cy="12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2" name="Rectangle: Rounded Corners 2"/>
          <p:cNvSpPr/>
          <p:nvPr/>
        </p:nvSpPr>
        <p:spPr>
          <a:xfrm>
            <a:off x="173880" y="3076200"/>
            <a:ext cx="2267640" cy="152676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Editing stats script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Writing manuscript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4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5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6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48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349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350" name="Oval 14"/>
          <p:cNvSpPr/>
          <p:nvPr/>
        </p:nvSpPr>
        <p:spPr>
          <a:xfrm>
            <a:off x="2889720" y="52153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TextBox 15"/>
          <p:cNvSpPr/>
          <p:nvPr/>
        </p:nvSpPr>
        <p:spPr>
          <a:xfrm>
            <a:off x="3681360" y="5142512"/>
            <a:ext cx="88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Clone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2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Arrow: Right 18"/>
          <p:cNvSpPr/>
          <p:nvPr/>
        </p:nvSpPr>
        <p:spPr>
          <a:xfrm rot="10800000">
            <a:off x="3572640" y="541368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5" name="Oval 19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6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7" name="Straight Arrow Connector 27"/>
          <p:cNvSpPr/>
          <p:nvPr/>
        </p:nvSpPr>
        <p:spPr>
          <a:xfrm>
            <a:off x="6022440" y="4839840"/>
            <a:ext cx="36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8" name="Straight Arrow Connector 40"/>
          <p:cNvSpPr/>
          <p:nvPr/>
        </p:nvSpPr>
        <p:spPr>
          <a:xfrm>
            <a:off x="3045240" y="4859640"/>
            <a:ext cx="18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9" name="Oval 43"/>
          <p:cNvSpPr/>
          <p:nvPr/>
        </p:nvSpPr>
        <p:spPr>
          <a:xfrm>
            <a:off x="2889720" y="453420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0" name="TextBox 46"/>
          <p:cNvSpPr/>
          <p:nvPr/>
        </p:nvSpPr>
        <p:spPr>
          <a:xfrm>
            <a:off x="3672360" y="4380392"/>
            <a:ext cx="88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Push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61" name="Arrow: Right 47"/>
          <p:cNvSpPr/>
          <p:nvPr/>
        </p:nvSpPr>
        <p:spPr>
          <a:xfrm>
            <a:off x="3563280" y="465120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Rectangle: Rounded Corners 48"/>
          <p:cNvSpPr/>
          <p:nvPr/>
        </p:nvSpPr>
        <p:spPr>
          <a:xfrm>
            <a:off x="808920" y="4418640"/>
            <a:ext cx="1632600" cy="47448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Tenorite"/>
              </a:rPr>
              <a:t>Commit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63" name="Arrow: Right 49"/>
          <p:cNvSpPr/>
          <p:nvPr/>
        </p:nvSpPr>
        <p:spPr>
          <a:xfrm>
            <a:off x="2437920" y="4602600"/>
            <a:ext cx="370440" cy="11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Straight Arrow Connector 50"/>
          <p:cNvSpPr/>
          <p:nvPr/>
        </p:nvSpPr>
        <p:spPr>
          <a:xfrm flipV="1">
            <a:off x="6110640" y="3277800"/>
            <a:ext cx="2048040" cy="1280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Straight Arrow Connector 51"/>
          <p:cNvSpPr/>
          <p:nvPr/>
        </p:nvSpPr>
        <p:spPr>
          <a:xfrm>
            <a:off x="6065280" y="4749840"/>
            <a:ext cx="218412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7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68" name="Graphic 54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369" name="TextBox 55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70" name="Graphic 56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371" name="Graphic 57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372" name="TextBox 58"/>
          <p:cNvSpPr/>
          <p:nvPr/>
        </p:nvSpPr>
        <p:spPr>
          <a:xfrm>
            <a:off x="8949240" y="4239000"/>
            <a:ext cx="1409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 (v2)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3" name="TextBox 59"/>
          <p:cNvSpPr/>
          <p:nvPr/>
        </p:nvSpPr>
        <p:spPr>
          <a:xfrm>
            <a:off x="8949240" y="4728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4" name="Oval 28"/>
          <p:cNvSpPr/>
          <p:nvPr/>
        </p:nvSpPr>
        <p:spPr>
          <a:xfrm>
            <a:off x="5868360" y="453240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75" name="Graphic 2" descr="Document outline"/>
          <p:cNvPicPr/>
          <p:nvPr/>
        </p:nvPicPr>
        <p:blipFill>
          <a:blip r:embed="rId5"/>
          <a:stretch/>
        </p:blipFill>
        <p:spPr>
          <a:xfrm>
            <a:off x="8541720" y="519444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376" name="TextBox 3"/>
          <p:cNvSpPr/>
          <p:nvPr/>
        </p:nvSpPr>
        <p:spPr>
          <a:xfrm>
            <a:off x="8976600" y="5254920"/>
            <a:ext cx="1446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Manuscript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30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rgbClr val="000000"/>
                </a:solidFill>
                <a:latin typeface="Tenorite"/>
              </a:rPr>
              <a:t>Remote Location </a:t>
            </a:r>
            <a:endParaRPr lang="en-US" sz="28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8" name="Rectangle 4"/>
          <p:cNvSpPr/>
          <p:nvPr/>
        </p:nvSpPr>
        <p:spPr>
          <a:xfrm>
            <a:off x="1830600" y="2642400"/>
            <a:ext cx="2444040" cy="405360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Emily's Computer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9" name="Rectangle 5"/>
          <p:cNvSpPr/>
          <p:nvPr/>
        </p:nvSpPr>
        <p:spPr>
          <a:xfrm>
            <a:off x="4759920" y="2642400"/>
            <a:ext cx="2444040" cy="405360"/>
          </a:xfrm>
          <a:prstGeom prst="rect">
            <a:avLst/>
          </a:prstGeom>
          <a:solidFill>
            <a:schemeClr val="accent5"/>
          </a:solidFill>
          <a:ln>
            <a:solidFill>
              <a:srgbClr val="5B9BD5">
                <a:lumMod val="50000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Remote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0" name="Rectangle 7"/>
          <p:cNvSpPr/>
          <p:nvPr/>
        </p:nvSpPr>
        <p:spPr>
          <a:xfrm>
            <a:off x="1830600" y="3048120"/>
            <a:ext cx="2444040" cy="277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1" name="Rectangle 8"/>
          <p:cNvSpPr/>
          <p:nvPr/>
        </p:nvSpPr>
        <p:spPr>
          <a:xfrm>
            <a:off x="4759920" y="3048120"/>
            <a:ext cx="2444040" cy="27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2" name="Picture 11" descr="A black and white cat logo&#10;&#10;Description automatically generated"/>
          <p:cNvPicPr/>
          <p:nvPr/>
        </p:nvPicPr>
        <p:blipFill>
          <a:blip r:embed="rId2"/>
          <a:srcRect t="-819" r="3024" b="709"/>
          <a:stretch/>
        </p:blipFill>
        <p:spPr>
          <a:xfrm>
            <a:off x="5767560" y="2051640"/>
            <a:ext cx="513720" cy="586800"/>
          </a:xfrm>
          <a:prstGeom prst="rect">
            <a:avLst/>
          </a:prstGeom>
          <a:ln w="0">
            <a:noFill/>
          </a:ln>
        </p:spPr>
      </p:pic>
      <p:pic>
        <p:nvPicPr>
          <p:cNvPr id="383" name="Graphic 13" descr="Programmer female with solid fill"/>
          <p:cNvPicPr/>
          <p:nvPr/>
        </p:nvPicPr>
        <p:blipFill>
          <a:blip r:embed="rId3"/>
          <a:stretch/>
        </p:blipFill>
        <p:spPr>
          <a:xfrm>
            <a:off x="1833120" y="2045880"/>
            <a:ext cx="508320" cy="597240"/>
          </a:xfrm>
          <a:prstGeom prst="rect">
            <a:avLst/>
          </a:prstGeom>
          <a:ln w="0">
            <a:noFill/>
          </a:ln>
        </p:spPr>
      </p:pic>
      <p:sp>
        <p:nvSpPr>
          <p:cNvPr id="384" name="Oval 14"/>
          <p:cNvSpPr/>
          <p:nvPr/>
        </p:nvSpPr>
        <p:spPr>
          <a:xfrm>
            <a:off x="2889720" y="52153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TextBox 15"/>
          <p:cNvSpPr/>
          <p:nvPr/>
        </p:nvSpPr>
        <p:spPr>
          <a:xfrm>
            <a:off x="3681360" y="5142512"/>
            <a:ext cx="88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Clone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86" name="Straight Arrow Connector 16"/>
          <p:cNvSpPr/>
          <p:nvPr/>
        </p:nvSpPr>
        <p:spPr>
          <a:xfrm>
            <a:off x="5781600" y="311472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7" name="Straight Arrow Connector 17"/>
          <p:cNvSpPr/>
          <p:nvPr/>
        </p:nvSpPr>
        <p:spPr>
          <a:xfrm>
            <a:off x="5924520" y="325764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8" name="Arrow: Right 18"/>
          <p:cNvSpPr/>
          <p:nvPr/>
        </p:nvSpPr>
        <p:spPr>
          <a:xfrm rot="10800000">
            <a:off x="3572640" y="541368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9" name="Oval 19"/>
          <p:cNvSpPr/>
          <p:nvPr/>
        </p:nvSpPr>
        <p:spPr>
          <a:xfrm>
            <a:off x="5868360" y="519552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Straight Arrow Connector 23"/>
          <p:cNvSpPr/>
          <p:nvPr/>
        </p:nvSpPr>
        <p:spPr>
          <a:xfrm>
            <a:off x="6067440" y="3400560"/>
            <a:ext cx="91404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9E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Straight Arrow Connector 27"/>
          <p:cNvSpPr/>
          <p:nvPr/>
        </p:nvSpPr>
        <p:spPr>
          <a:xfrm>
            <a:off x="6022440" y="4839840"/>
            <a:ext cx="36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Straight Arrow Connector 40"/>
          <p:cNvSpPr/>
          <p:nvPr/>
        </p:nvSpPr>
        <p:spPr>
          <a:xfrm>
            <a:off x="3045240" y="4859640"/>
            <a:ext cx="18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Oval 43"/>
          <p:cNvSpPr/>
          <p:nvPr/>
        </p:nvSpPr>
        <p:spPr>
          <a:xfrm>
            <a:off x="2889720" y="453420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Straight Arrow Connector 44"/>
          <p:cNvSpPr/>
          <p:nvPr/>
        </p:nvSpPr>
        <p:spPr>
          <a:xfrm>
            <a:off x="3043440" y="4188240"/>
            <a:ext cx="3600" cy="34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Oval 45"/>
          <p:cNvSpPr/>
          <p:nvPr/>
        </p:nvSpPr>
        <p:spPr>
          <a:xfrm>
            <a:off x="2889720" y="391068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TextBox 46"/>
          <p:cNvSpPr/>
          <p:nvPr/>
        </p:nvSpPr>
        <p:spPr>
          <a:xfrm>
            <a:off x="3672360" y="4380392"/>
            <a:ext cx="88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Tenorite"/>
              </a:rPr>
              <a:t>Push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97" name="Arrow: Right 47"/>
          <p:cNvSpPr/>
          <p:nvPr/>
        </p:nvSpPr>
        <p:spPr>
          <a:xfrm>
            <a:off x="3563280" y="4651200"/>
            <a:ext cx="1187280" cy="10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Rectangle: Rounded Corners 48"/>
          <p:cNvSpPr/>
          <p:nvPr/>
        </p:nvSpPr>
        <p:spPr>
          <a:xfrm>
            <a:off x="808920" y="3810960"/>
            <a:ext cx="1632600" cy="47448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More work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9" name="Arrow: Right 49"/>
          <p:cNvSpPr/>
          <p:nvPr/>
        </p:nvSpPr>
        <p:spPr>
          <a:xfrm>
            <a:off x="2437920" y="3994560"/>
            <a:ext cx="370440" cy="11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0" name="Straight Arrow Connector 50"/>
          <p:cNvSpPr/>
          <p:nvPr/>
        </p:nvSpPr>
        <p:spPr>
          <a:xfrm flipV="1">
            <a:off x="6110640" y="3277800"/>
            <a:ext cx="2048040" cy="1280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1" name="Straight Arrow Connector 51"/>
          <p:cNvSpPr/>
          <p:nvPr/>
        </p:nvSpPr>
        <p:spPr>
          <a:xfrm>
            <a:off x="6065280" y="4749840"/>
            <a:ext cx="2184120" cy="91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>
                <a:lumMod val="65000"/>
                <a:lumOff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2" name="Rectangle: Rounded Corners 52"/>
          <p:cNvSpPr/>
          <p:nvPr/>
        </p:nvSpPr>
        <p:spPr>
          <a:xfrm>
            <a:off x="8175960" y="3004200"/>
            <a:ext cx="2220480" cy="2868840"/>
          </a:xfrm>
          <a:prstGeom prst="roundRect">
            <a:avLst>
              <a:gd name="adj" fmla="val 16667"/>
            </a:avLst>
          </a:prstGeom>
          <a:solidFill>
            <a:srgbClr val="E9E6DF"/>
          </a:solidFill>
          <a:ln>
            <a:solidFill>
              <a:srgbClr val="6664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3" name="TextBox 53"/>
          <p:cNvSpPr/>
          <p:nvPr/>
        </p:nvSpPr>
        <p:spPr>
          <a:xfrm>
            <a:off x="8480880" y="3206160"/>
            <a:ext cx="1632600" cy="3654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00">
                <a:lumMod val="65000"/>
                <a:lumOff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Project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04" name="Graphic 54" descr="Folder outline"/>
          <p:cNvPicPr/>
          <p:nvPr/>
        </p:nvPicPr>
        <p:blipFill>
          <a:blip r:embed="rId4"/>
          <a:stretch/>
        </p:blipFill>
        <p:spPr>
          <a:xfrm>
            <a:off x="8478000" y="3715560"/>
            <a:ext cx="505800" cy="469440"/>
          </a:xfrm>
          <a:prstGeom prst="rect">
            <a:avLst/>
          </a:prstGeom>
          <a:ln w="0">
            <a:noFill/>
          </a:ln>
        </p:spPr>
      </p:pic>
      <p:sp>
        <p:nvSpPr>
          <p:cNvPr id="405" name="TextBox 55"/>
          <p:cNvSpPr/>
          <p:nvPr/>
        </p:nvSpPr>
        <p:spPr>
          <a:xfrm>
            <a:off x="8976600" y="3803400"/>
            <a:ext cx="124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Raw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06" name="Graphic 56" descr="Document outline"/>
          <p:cNvPicPr/>
          <p:nvPr/>
        </p:nvPicPr>
        <p:blipFill>
          <a:blip r:embed="rId5"/>
          <a:stretch/>
        </p:blipFill>
        <p:spPr>
          <a:xfrm>
            <a:off x="8541720" y="4187520"/>
            <a:ext cx="378720" cy="424080"/>
          </a:xfrm>
          <a:prstGeom prst="rect">
            <a:avLst/>
          </a:prstGeom>
          <a:ln w="0">
            <a:noFill/>
          </a:ln>
        </p:spPr>
      </p:pic>
      <p:pic>
        <p:nvPicPr>
          <p:cNvPr id="407" name="Graphic 57" descr="Document outline"/>
          <p:cNvPicPr/>
          <p:nvPr/>
        </p:nvPicPr>
        <p:blipFill>
          <a:blip r:embed="rId5"/>
          <a:stretch/>
        </p:blipFill>
        <p:spPr>
          <a:xfrm>
            <a:off x="8541720" y="468612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408" name="TextBox 58"/>
          <p:cNvSpPr/>
          <p:nvPr/>
        </p:nvSpPr>
        <p:spPr>
          <a:xfrm>
            <a:off x="8949240" y="4239000"/>
            <a:ext cx="1409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Stats.R (v2)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09" name="TextBox 59"/>
          <p:cNvSpPr/>
          <p:nvPr/>
        </p:nvSpPr>
        <p:spPr>
          <a:xfrm>
            <a:off x="8949240" y="4728600"/>
            <a:ext cx="1446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README.md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10" name="Oval 28"/>
          <p:cNvSpPr/>
          <p:nvPr/>
        </p:nvSpPr>
        <p:spPr>
          <a:xfrm>
            <a:off x="5868360" y="4532400"/>
            <a:ext cx="316440" cy="306360"/>
          </a:xfrm>
          <a:prstGeom prst="ellipse">
            <a:avLst/>
          </a:prstGeom>
          <a:solidFill>
            <a:schemeClr val="accent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11" name="Graphic 2" descr="Document outline"/>
          <p:cNvPicPr/>
          <p:nvPr/>
        </p:nvPicPr>
        <p:blipFill>
          <a:blip r:embed="rId5"/>
          <a:stretch/>
        </p:blipFill>
        <p:spPr>
          <a:xfrm>
            <a:off x="8541720" y="5194440"/>
            <a:ext cx="378720" cy="424080"/>
          </a:xfrm>
          <a:prstGeom prst="rect">
            <a:avLst/>
          </a:prstGeom>
          <a:ln w="0">
            <a:noFill/>
          </a:ln>
        </p:spPr>
      </p:pic>
      <p:sp>
        <p:nvSpPr>
          <p:cNvPr id="412" name="TextBox 3"/>
          <p:cNvSpPr/>
          <p:nvPr/>
        </p:nvSpPr>
        <p:spPr>
          <a:xfrm>
            <a:off x="8976600" y="5254920"/>
            <a:ext cx="1446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Tenorite"/>
              </a:rPr>
              <a:t>Manuscript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234923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cap="all" spc="148" dirty="0">
                <a:solidFill>
                  <a:srgbClr val="000000"/>
                </a:solidFill>
                <a:latin typeface="Tenorite"/>
              </a:rPr>
              <a:t>Setting up a Repository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1125FB-E165-48EE-9C50-71603C8F606D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20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DA712C63-EAD1-BAB3-7CA6-67D035D3ABE8}"/>
              </a:ext>
            </a:extLst>
          </p:cNvPr>
          <p:cNvSpPr txBox="1">
            <a:spLocks/>
          </p:cNvSpPr>
          <p:nvPr/>
        </p:nvSpPr>
        <p:spPr>
          <a:xfrm>
            <a:off x="1355411" y="1866378"/>
            <a:ext cx="9882431" cy="485482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</a:pPr>
            <a:r>
              <a:rPr lang="en-US" sz="3200" b="1" dirty="0">
                <a:solidFill>
                  <a:srgbClr val="0E0E0E"/>
                </a:solidFill>
                <a:effectLst/>
                <a:latin typeface="Tenorite" pitchFamily="2" charset="0"/>
              </a:rPr>
              <a:t>Visibility Options:</a:t>
            </a:r>
            <a:endParaRPr lang="en-US" sz="3200" dirty="0">
              <a:solidFill>
                <a:srgbClr val="0E0E0E"/>
              </a:solidFill>
              <a:effectLst/>
              <a:latin typeface="Tenorite" pitchFamily="2" charset="0"/>
            </a:endParaRP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Public: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Anyone can see your repository.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Private: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Only you and collaborators can access the repository.</a:t>
            </a:r>
          </a:p>
          <a:p>
            <a:pPr>
              <a:spcBef>
                <a:spcPts val="900"/>
              </a:spcBef>
            </a:pPr>
            <a:r>
              <a:rPr lang="en-US" sz="3200" b="1" dirty="0">
                <a:solidFill>
                  <a:srgbClr val="0E0E0E"/>
                </a:solidFill>
                <a:effectLst/>
                <a:latin typeface="Tenorite" pitchFamily="2" charset="0"/>
              </a:rPr>
              <a:t>Initialize: </a:t>
            </a:r>
            <a:r>
              <a:rPr lang="en-US" sz="3200" dirty="0">
                <a:solidFill>
                  <a:srgbClr val="0E0E0E"/>
                </a:solidFill>
                <a:effectLst/>
                <a:latin typeface="Tenorite" pitchFamily="2" charset="0"/>
              </a:rPr>
              <a:t>Initializing a repository means setting up a new project folder (repository) for Git to start tracking changes. You can do this on your local computer or when setting up your repository online by adding selected files:</a:t>
            </a:r>
            <a:endParaRPr lang="en-US" sz="3200" b="1" dirty="0">
              <a:solidFill>
                <a:srgbClr val="0E0E0E"/>
              </a:solidFill>
              <a:latin typeface="Tenorite" pitchFamily="2" charset="0"/>
            </a:endParaRP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latin typeface="Tenorite" pitchFamily="2" charset="0"/>
              </a:rPr>
              <a:t>Add a</a:t>
            </a: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 README: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Automatically adds a </a:t>
            </a:r>
            <a:r>
              <a:rPr lang="en-US" dirty="0" err="1">
                <a:solidFill>
                  <a:srgbClr val="0E0E0E"/>
                </a:solidFill>
                <a:effectLst/>
                <a:latin typeface="Tenorite" pitchFamily="2" charset="0"/>
              </a:rPr>
              <a:t>README.md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file to get started.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Add a .</a:t>
            </a:r>
            <a:r>
              <a:rPr lang="en-US" b="1" dirty="0" err="1">
                <a:solidFill>
                  <a:srgbClr val="0E0E0E"/>
                </a:solidFill>
                <a:effectLst/>
                <a:latin typeface="Tenorite" pitchFamily="2" charset="0"/>
              </a:rPr>
              <a:t>gitignore</a:t>
            </a: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 File: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GitHub provides templates for common languages and tools (e.g., Python, Node.js).</a:t>
            </a:r>
          </a:p>
          <a:p>
            <a:pPr lvl="1"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Tenorite" pitchFamily="2" charset="0"/>
              </a:rPr>
              <a:t>Add a License:</a:t>
            </a: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 GitHub lets you select and add a license when creating a repository.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3DB8-DBC4-D6E6-65A3-0B7E9B6B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>
            <a:extLst>
              <a:ext uri="{FF2B5EF4-FFF2-40B4-BE49-F238E27FC236}">
                <a16:creationId xmlns:a16="http://schemas.microsoft.com/office/drawing/2014/main" id="{7F9149DD-73B9-CBAA-5B22-87298D17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85" y="-477360"/>
            <a:ext cx="7287840" cy="14799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</a:rPr>
              <a:t>GitHub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5" name="PlaceHolder 3">
            <a:extLst>
              <a:ext uri="{FF2B5EF4-FFF2-40B4-BE49-F238E27FC236}">
                <a16:creationId xmlns:a16="http://schemas.microsoft.com/office/drawing/2014/main" id="{053D50A9-A625-6434-2DA4-9C17E2A45C4F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1125FB-E165-48EE-9C50-71603C8F606D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21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416" name="Picture 4" descr="Markdown Basics">
            <a:extLst>
              <a:ext uri="{FF2B5EF4-FFF2-40B4-BE49-F238E27FC236}">
                <a16:creationId xmlns:a16="http://schemas.microsoft.com/office/drawing/2014/main" id="{25EE05D8-E5D5-1F04-E5D5-3D0C7753995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0094070" cy="6141787"/>
          </a:xfrm>
          <a:prstGeom prst="rect">
            <a:avLst/>
          </a:prstGeom>
          <a:ln w="0">
            <a:noFill/>
          </a:ln>
        </p:spPr>
      </p:pic>
      <p:sp>
        <p:nvSpPr>
          <p:cNvPr id="414" name="PlaceHolder 2">
            <a:extLst>
              <a:ext uri="{FF2B5EF4-FFF2-40B4-BE49-F238E27FC236}">
                <a16:creationId xmlns:a16="http://schemas.microsoft.com/office/drawing/2014/main" id="{1E4E4F98-9014-419D-55D0-1B8ECC8D10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404101" y="2463800"/>
            <a:ext cx="4787900" cy="4394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>
            <a:normAutofit fontScale="92500"/>
          </a:bodyPr>
          <a:lstStyle/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r>
              <a:rPr lang="en-US" sz="2800" b="1" strike="noStrike" spc="49" dirty="0" err="1">
                <a:solidFill>
                  <a:srgbClr val="000000"/>
                </a:solidFill>
                <a:latin typeface="Tenorite" pitchFamily="2" charset="0"/>
                <a:ea typeface="Tenorite"/>
              </a:rPr>
              <a:t>README.md</a:t>
            </a:r>
            <a:endParaRPr lang="en-US" sz="2800" b="1" strike="noStrike" spc="49" dirty="0">
              <a:solidFill>
                <a:srgbClr val="000000"/>
              </a:solidFill>
              <a:latin typeface="Tenorite" pitchFamily="2" charset="0"/>
              <a:ea typeface="Tenorite"/>
            </a:endParaRPr>
          </a:p>
          <a:p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Purpose: 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Provides a description of the repository and its purpose.</a:t>
            </a:r>
          </a:p>
          <a:p>
            <a:pPr>
              <a:spcBef>
                <a:spcPts val="900"/>
              </a:spcBef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Why It’s Important: 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Helps others (and you!) understand what the project is about and how to use it.</a:t>
            </a:r>
          </a:p>
          <a:p>
            <a:pPr>
              <a:spcBef>
                <a:spcPts val="900"/>
              </a:spcBef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What to Include: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Project title and description.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Installation instructions.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Usage examples.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E0E0E"/>
                </a:solidFill>
                <a:effectLst/>
                <a:latin typeface="Tenorite" pitchFamily="2" charset="0"/>
              </a:rPr>
              <a:t>Contact information or links.</a:t>
            </a:r>
          </a:p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n-US" sz="2400" strike="noStrike" spc="49" dirty="0">
              <a:solidFill>
                <a:srgbClr val="000000"/>
              </a:solidFill>
              <a:latin typeface="Tenorite" pitchFamily="2" charset="0"/>
              <a:ea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1309836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884195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</a:rPr>
              <a:t>GitHub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400833" y="1540701"/>
            <a:ext cx="4934367" cy="518049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r>
              <a:rPr lang="en-US" sz="3600" b="1" strike="noStrike" spc="49" dirty="0">
                <a:solidFill>
                  <a:srgbClr val="000000"/>
                </a:solidFill>
                <a:latin typeface="Tenorite"/>
                <a:ea typeface="Tenorite"/>
              </a:rPr>
              <a:t>.</a:t>
            </a:r>
            <a:r>
              <a:rPr lang="en-US" sz="3600" b="1" strike="noStrike" spc="49" dirty="0" err="1">
                <a:solidFill>
                  <a:srgbClr val="000000"/>
                </a:solidFill>
                <a:latin typeface="Tenorite"/>
                <a:ea typeface="Tenorite"/>
              </a:rPr>
              <a:t>gitignore</a:t>
            </a:r>
            <a:endParaRPr lang="en-US" sz="3600" b="1" strike="noStrike" spc="49" dirty="0">
              <a:solidFill>
                <a:srgbClr val="000000"/>
              </a:solidFill>
              <a:latin typeface="Tenorite"/>
              <a:ea typeface="Tenorite"/>
            </a:endParaRPr>
          </a:p>
          <a:p>
            <a:r>
              <a:rPr lang="en-US" b="1" dirty="0">
                <a:solidFill>
                  <a:srgbClr val="0E0E0E"/>
                </a:solidFill>
                <a:effectLst/>
                <a:latin typeface=".AppleSystemUIFont"/>
              </a:rPr>
              <a:t>Purpose: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Specifies files or file types that Git should ignore (not track).</a:t>
            </a:r>
          </a:p>
          <a:p>
            <a:pPr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.AppleSystemUIFont"/>
              </a:rPr>
              <a:t>Why It’s Important: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Prevents unnecessary or sensitive files (e.g., passwords, logs, system files) from being included in your repository.</a:t>
            </a:r>
          </a:p>
          <a:p>
            <a:pPr>
              <a:spcBef>
                <a:spcPts val="900"/>
              </a:spcBef>
            </a:pPr>
            <a:r>
              <a:rPr lang="en-US" b="1" dirty="0">
                <a:solidFill>
                  <a:srgbClr val="0E0E0E"/>
                </a:solidFill>
                <a:effectLst/>
                <a:latin typeface=".AppleSystemUIFont"/>
              </a:rPr>
              <a:t>Examples of Files to Ignore:</a:t>
            </a:r>
            <a:endParaRPr 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 lvl="1">
              <a:spcBef>
                <a:spcPts val="900"/>
              </a:spcBef>
            </a:pPr>
            <a:r>
              <a:rPr lang="en-US" sz="2600" dirty="0">
                <a:solidFill>
                  <a:srgbClr val="0E0E0E"/>
                </a:solidFill>
                <a:effectLst/>
                <a:latin typeface=".AppleSystemUIFont"/>
              </a:rPr>
              <a:t>Temporary files (e.g., </a:t>
            </a:r>
            <a:r>
              <a:rPr lang="en-US" sz="2600" dirty="0">
                <a:solidFill>
                  <a:srgbClr val="0E0E0E"/>
                </a:solidFill>
                <a:effectLst/>
                <a:latin typeface=".AppleSystemUIFontMonospaced"/>
              </a:rPr>
              <a:t>.</a:t>
            </a:r>
            <a:r>
              <a:rPr lang="en-US" sz="2600" dirty="0" err="1">
                <a:solidFill>
                  <a:srgbClr val="0E0E0E"/>
                </a:solidFill>
                <a:effectLst/>
                <a:latin typeface=".AppleSystemUIFontMonospaced"/>
              </a:rPr>
              <a:t>DS_Store</a:t>
            </a:r>
            <a:r>
              <a:rPr lang="en-US" sz="26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US" sz="2600" dirty="0">
                <a:solidFill>
                  <a:srgbClr val="0E0E0E"/>
                </a:solidFill>
                <a:effectLst/>
                <a:latin typeface=".AppleSystemUIFontMonospaced"/>
              </a:rPr>
              <a:t>*.</a:t>
            </a:r>
            <a:r>
              <a:rPr lang="en-US" sz="2600" dirty="0" err="1">
                <a:solidFill>
                  <a:srgbClr val="0E0E0E"/>
                </a:solidFill>
                <a:effectLst/>
                <a:latin typeface=".AppleSystemUIFontMonospaced"/>
              </a:rPr>
              <a:t>tmp</a:t>
            </a:r>
            <a:r>
              <a:rPr lang="en-US" sz="2600" dirty="0">
                <a:solidFill>
                  <a:srgbClr val="0E0E0E"/>
                </a:solidFill>
                <a:effectLst/>
                <a:latin typeface=".AppleSystemUIFont"/>
              </a:rPr>
              <a:t>).</a:t>
            </a:r>
          </a:p>
          <a:p>
            <a:pPr lvl="1">
              <a:spcBef>
                <a:spcPts val="900"/>
              </a:spcBef>
            </a:pPr>
            <a:r>
              <a:rPr lang="en-US" sz="2600" dirty="0">
                <a:solidFill>
                  <a:srgbClr val="0E0E0E"/>
                </a:solidFill>
                <a:effectLst/>
                <a:latin typeface=".AppleSystemUIFont"/>
              </a:rPr>
              <a:t>Files with sensitive information (e.g., </a:t>
            </a:r>
            <a:r>
              <a:rPr lang="en-US" sz="2600" dirty="0">
                <a:solidFill>
                  <a:srgbClr val="0E0E0E"/>
                </a:solidFill>
                <a:latin typeface=".AppleSystemUIFontMonospaced"/>
              </a:rPr>
              <a:t>personal files</a:t>
            </a:r>
            <a:r>
              <a:rPr lang="en-US" sz="2600" dirty="0">
                <a:solidFill>
                  <a:srgbClr val="0E0E0E"/>
                </a:solidFill>
                <a:effectLst/>
                <a:latin typeface=".AppleSystemUIFont"/>
              </a:rPr>
              <a:t>).</a:t>
            </a:r>
          </a:p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n-US" b="1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7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7519B8-800F-4133-882D-6F8868362D46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22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420" name="Picture 3" descr="What is Git-Ignore and How to Use it? - GeeksforGeeks"/>
          <p:cNvPicPr/>
          <p:nvPr/>
        </p:nvPicPr>
        <p:blipFill>
          <a:blip r:embed="rId3"/>
          <a:stretch/>
        </p:blipFill>
        <p:spPr>
          <a:xfrm>
            <a:off x="5694460" y="1540701"/>
            <a:ext cx="6497540" cy="297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883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</a:rPr>
              <a:t>GitHub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501041" y="1802520"/>
            <a:ext cx="4111639" cy="455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r>
              <a:rPr lang="en-US" sz="2800" b="1" strike="noStrike" spc="-1" dirty="0">
                <a:solidFill>
                  <a:srgbClr val="000000"/>
                </a:solidFill>
                <a:latin typeface="Tenorite"/>
              </a:rPr>
              <a:t>LICENSE</a:t>
            </a:r>
          </a:p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n-US" sz="2800" b="1" strike="noStrike" spc="-1" dirty="0">
              <a:solidFill>
                <a:srgbClr val="000000"/>
              </a:solidFill>
              <a:latin typeface="Tenorite"/>
            </a:endParaRPr>
          </a:p>
          <a:p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Purpose: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 Specifies how others can use your code.</a:t>
            </a:r>
          </a:p>
          <a:p>
            <a:pPr>
              <a:spcBef>
                <a:spcPts val="900"/>
              </a:spcBef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Why It’s Important: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 Protects your work and clarifies usage rights.</a:t>
            </a:r>
          </a:p>
          <a:p>
            <a:pPr marL="280440" lvl="2" indent="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n-US" sz="2800" b="1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8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BA44FF-0BF7-4E3D-AFD9-728C42CAB5AA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23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424" name="Picture 3" descr="A dev's guide to open source software licensing · GitHub"/>
          <p:cNvPicPr/>
          <p:nvPr/>
        </p:nvPicPr>
        <p:blipFill>
          <a:blip r:embed="rId3"/>
          <a:stretch/>
        </p:blipFill>
        <p:spPr>
          <a:xfrm>
            <a:off x="4612680" y="1152000"/>
            <a:ext cx="7579320" cy="529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991200" y="406440"/>
            <a:ext cx="4179240" cy="3457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GitHub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5D5E3B-54D6-A8B7-B0F1-BFF9563ED7C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780" y="1983662"/>
            <a:ext cx="10972440" cy="397728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What is a Text Editor?</a:t>
            </a:r>
            <a:b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</a:br>
            <a:endParaRPr lang="en-US" sz="2400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A text editor is a tool for writing and editing plain text files, essential for coding.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Unlike word processors, text editors don’t add formatting, making them ideal for programming.</a:t>
            </a:r>
          </a:p>
          <a:p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Why do we need a text editor? 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Allows you to write, modify, and save source code files (e.g., .md, .R, 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Monospaced"/>
              </a:rPr>
              <a:t>.html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C5F852-042F-9117-5333-4E87AD1D15FC}"/>
              </a:ext>
            </a:extLst>
          </p:cNvPr>
          <p:cNvSpPr txBox="1">
            <a:spLocks/>
          </p:cNvSpPr>
          <p:nvPr/>
        </p:nvSpPr>
        <p:spPr>
          <a:xfrm>
            <a:off x="3715439" y="602166"/>
            <a:ext cx="417924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Editor</a:t>
            </a:r>
          </a:p>
        </p:txBody>
      </p:sp>
    </p:spTree>
    <p:extLst>
      <p:ext uri="{BB962C8B-B14F-4D97-AF65-F5344CB8AC3E}">
        <p14:creationId xmlns:p14="http://schemas.microsoft.com/office/powerpoint/2010/main" val="1076666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6CF6-C5A3-C5F8-23C8-9D849309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29CC95-8848-E6EF-032E-E97027D94F0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780" y="1983662"/>
            <a:ext cx="10972440" cy="4272172"/>
          </a:xfrm>
        </p:spPr>
        <p:txBody>
          <a:bodyPr/>
          <a:lstStyle/>
          <a:p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Why We </a:t>
            </a:r>
            <a:r>
              <a:rPr lang="en-US" sz="2000" b="1" dirty="0">
                <a:solidFill>
                  <a:srgbClr val="0E0E0E"/>
                </a:solidFill>
                <a:latin typeface=".AppleSystemUIFont"/>
              </a:rPr>
              <a:t>Will </a:t>
            </a: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Use Visual Studio Code?</a:t>
            </a:r>
            <a:endParaRPr lang="en-US" sz="2000" dirty="0">
              <a:solidFill>
                <a:srgbClr val="0E0E0E"/>
              </a:solidFill>
              <a:effectLst/>
              <a:latin typeface=".AppleSystemUIFont"/>
            </a:endParaRPr>
          </a:p>
          <a:p>
            <a:endParaRPr lang="en-US" sz="2000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Visual Studio Code (VS Code)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 is one of the most popular text editors for developers. Here’s why we recommend it: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Free and Cross-Platform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:</a:t>
            </a:r>
          </a:p>
          <a:p>
            <a:pPr lvl="7">
              <a:spcBef>
                <a:spcPts val="900"/>
              </a:spcBef>
            </a:pP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	Available for Windows, macOS, and Linux and completely free.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Beginner-Friendly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:</a:t>
            </a:r>
          </a:p>
          <a:p>
            <a:pPr>
              <a:spcBef>
                <a:spcPts val="900"/>
              </a:spcBef>
            </a:pP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	Easy to install and set up.</a:t>
            </a:r>
          </a:p>
          <a:p>
            <a:pPr>
              <a:spcBef>
                <a:spcPts val="900"/>
              </a:spcBef>
            </a:pPr>
            <a:r>
              <a:rPr lang="en-US" sz="2000" dirty="0">
                <a:solidFill>
                  <a:srgbClr val="0E0E0E"/>
                </a:solidFill>
                <a:latin typeface=".AppleSystemUIFont"/>
              </a:rPr>
              <a:t>	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Shows folders and makes it easy to add any type of file.</a:t>
            </a:r>
          </a:p>
          <a:p>
            <a:pPr>
              <a:spcBef>
                <a:spcPts val="900"/>
              </a:spcBef>
            </a:pPr>
            <a:r>
              <a:rPr lang="en-US" sz="2000" b="1" dirty="0">
                <a:solidFill>
                  <a:srgbClr val="0E0E0E"/>
                </a:solidFill>
                <a:latin typeface=".AppleSystemUIFont"/>
              </a:rPr>
              <a:t>3. </a:t>
            </a: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 Powerful Features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:</a:t>
            </a:r>
          </a:p>
          <a:p>
            <a:pPr>
              <a:spcBef>
                <a:spcPts val="900"/>
              </a:spcBef>
            </a:pP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	Syntax Highlighting and Autocomplete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:</a:t>
            </a:r>
          </a:p>
          <a:p>
            <a:pPr>
              <a:spcBef>
                <a:spcPts val="900"/>
              </a:spcBef>
            </a:pPr>
            <a:r>
              <a:rPr lang="en-US" sz="2000" dirty="0">
                <a:solidFill>
                  <a:srgbClr val="0E0E0E"/>
                </a:solidFill>
                <a:latin typeface=".AppleSystemUIFont"/>
              </a:rPr>
              <a:t>		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Highlights code based on the programming language and built in code completions. </a:t>
            </a:r>
          </a:p>
          <a:p>
            <a:pPr>
              <a:spcBef>
                <a:spcPts val="900"/>
              </a:spcBef>
            </a:pPr>
            <a:r>
              <a:rPr lang="en-US" sz="2000" b="1" dirty="0">
                <a:solidFill>
                  <a:srgbClr val="0E0E0E"/>
                </a:solidFill>
                <a:latin typeface=".AppleSystemUIFont"/>
              </a:rPr>
              <a:t>	</a:t>
            </a: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Built-In Git Integration</a:t>
            </a:r>
            <a:endParaRPr lang="en-US" sz="2000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BA8700-2889-04F7-C165-640D70933BCF}"/>
              </a:ext>
            </a:extLst>
          </p:cNvPr>
          <p:cNvSpPr txBox="1">
            <a:spLocks/>
          </p:cNvSpPr>
          <p:nvPr/>
        </p:nvSpPr>
        <p:spPr>
          <a:xfrm>
            <a:off x="3715439" y="602166"/>
            <a:ext cx="417924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Editor</a:t>
            </a:r>
          </a:p>
        </p:txBody>
      </p:sp>
    </p:spTree>
    <p:extLst>
      <p:ext uri="{BB962C8B-B14F-4D97-AF65-F5344CB8AC3E}">
        <p14:creationId xmlns:p14="http://schemas.microsoft.com/office/powerpoint/2010/main" val="170647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F623-0679-1106-A0AE-4C973A7AB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927" y="0"/>
            <a:ext cx="4179240" cy="914400"/>
          </a:xfrm>
        </p:spPr>
        <p:txBody>
          <a:bodyPr/>
          <a:lstStyle/>
          <a:p>
            <a:r>
              <a:rPr lang="en-US" dirty="0"/>
              <a:t>Text Editor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59FA7-B8A5-F724-B0E8-1771D914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426" y="0"/>
            <a:ext cx="2933700" cy="63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4EF7A-7F55-9631-D442-024EF558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12192000" cy="78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04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851960" cy="1059559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 err="1">
                <a:solidFill>
                  <a:srgbClr val="000000"/>
                </a:solidFill>
                <a:latin typeface="Tenorite"/>
                <a:ea typeface="Tenorite"/>
              </a:rPr>
              <a:t>Hands-ON</a:t>
            </a: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  <a:ea typeface="Tenorite"/>
              </a:rPr>
              <a:t>: Create a GitHub Repository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49" dirty="0">
                <a:solidFill>
                  <a:srgbClr val="000000"/>
                </a:solidFill>
                <a:latin typeface="Tenorite"/>
              </a:rPr>
              <a:t>Test Repository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Download </a:t>
            </a: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  <a:hlinkClick r:id="rId3"/>
              </a:rPr>
              <a:t>VS Code</a:t>
            </a:r>
            <a:endParaRPr lang="en-US" b="0" strike="noStrike" spc="49" dirty="0">
              <a:solidFill>
                <a:srgbClr val="000000"/>
              </a:solidFill>
              <a:latin typeface="Tenorite"/>
              <a:ea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Follow 1_setup.md in the Practice folder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Create repository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Add a file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Update </a:t>
            </a:r>
            <a:r>
              <a:rPr lang="en-US" b="0" strike="noStrike" spc="49" dirty="0" err="1">
                <a:solidFill>
                  <a:srgbClr val="000000"/>
                </a:solidFill>
                <a:latin typeface="Tenorite"/>
                <a:ea typeface="Tenorite"/>
              </a:rPr>
              <a:t>README.md</a:t>
            </a:r>
            <a:endParaRPr lang="en-US" sz="1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9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D9B10E-6A61-4ADF-B35F-7FCEFD5EF297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28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6219000" y="406440"/>
            <a:ext cx="5566680" cy="3457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Create a Repository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851960" cy="946825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  <a:ea typeface="Tenorite"/>
              </a:rPr>
              <a:t>What is Cloning?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1322279" y="2016690"/>
            <a:ext cx="8172449" cy="415299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49" dirty="0">
                <a:solidFill>
                  <a:srgbClr val="000000"/>
                </a:solidFill>
                <a:latin typeface="Tenorite"/>
              </a:rPr>
              <a:t>Create an exact copy of your repository on your local computer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This can be done: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On the command line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With GitHub Desktop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You can work from your local computer and update your repository: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Push to move new work to a remote location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566280" lvl="2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Pull to bring new work to your local computer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20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400DE2-4E09-42F0-B094-B55B0BD44403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30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03450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800" b="0" strike="noStrike" cap="all" spc="148" dirty="0">
                <a:solidFill>
                  <a:srgbClr val="000000"/>
                </a:solidFill>
                <a:latin typeface="Tenorite"/>
                <a:ea typeface="Tenorite"/>
              </a:rPr>
              <a:t>Hands-On: Cloning</a:t>
            </a:r>
            <a:endParaRPr lang="en-US" sz="28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1322280" y="1954060"/>
            <a:ext cx="7287840" cy="42156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49" dirty="0">
                <a:solidFill>
                  <a:srgbClr val="000000"/>
                </a:solidFill>
                <a:latin typeface="Tenorite"/>
              </a:rPr>
              <a:t>Working on your local computer</a:t>
            </a: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Follow 2_cloning.md in the Practice folder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Download GitHub Desktop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Clone your repository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Edit/add files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 marL="283320" lvl="1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b="0" strike="noStrike" spc="49" dirty="0">
                <a:solidFill>
                  <a:srgbClr val="000000"/>
                </a:solidFill>
                <a:latin typeface="Tenorite"/>
                <a:ea typeface="Tenorite"/>
              </a:rPr>
              <a:t>Push </a:t>
            </a:r>
            <a:endParaRPr lang="en-US" b="0" strike="noStrike" spc="-1" dirty="0">
              <a:solidFill>
                <a:srgbClr val="000000"/>
              </a:solidFill>
              <a:latin typeface="Tenorite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21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51D16A-0B9E-4D77-893E-57BC8E6DD3FF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31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219000" y="406440"/>
            <a:ext cx="5566680" cy="3457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Clone a Repository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sz="4800" dirty="0"/>
              <a:t>Collaboration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27C4B-CB19-D98C-240A-3E85A3DED42C}"/>
              </a:ext>
            </a:extLst>
          </p:cNvPr>
          <p:cNvSpPr txBox="1"/>
          <p:nvPr/>
        </p:nvSpPr>
        <p:spPr>
          <a:xfrm>
            <a:off x="1322318" y="3429000"/>
            <a:ext cx="89237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lang="en-US" sz="2000" b="1" dirty="0">
                <a:solidFill>
                  <a:srgbClr val="0E0E0E"/>
                </a:solidFill>
                <a:effectLst/>
                <a:latin typeface=".AppleSystemUIFont"/>
              </a:rPr>
              <a:t>Work Together Easily:</a:t>
            </a:r>
            <a:r>
              <a:rPr lang="en-US" sz="2000" dirty="0">
                <a:solidFill>
                  <a:srgbClr val="0E0E0E"/>
                </a:solidFill>
                <a:effectLst/>
                <a:latin typeface=".AppleSystemUIFont"/>
              </a:rPr>
              <a:t> GitHub allows multiple people to work on the same project simultaneously by syncing changes through repositories.</a:t>
            </a:r>
          </a:p>
        </p:txBody>
      </p:sp>
    </p:spTree>
    <p:extLst>
      <p:ext uri="{BB962C8B-B14F-4D97-AF65-F5344CB8AC3E}">
        <p14:creationId xmlns:p14="http://schemas.microsoft.com/office/powerpoint/2010/main" val="66738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9A43426-76AB-788D-D9E6-1C073DD9045F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94139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C6EEE6-04D7-A6C4-F24F-16C7D618F69B}"/>
              </a:ext>
            </a:extLst>
          </p:cNvPr>
          <p:cNvSpPr/>
          <p:nvPr/>
        </p:nvSpPr>
        <p:spPr>
          <a:xfrm>
            <a:off x="3817421" y="5135254"/>
            <a:ext cx="1632857" cy="47501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Commit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E31CFFE-7BE0-07FD-62AF-F346A9E1A006}"/>
              </a:ext>
            </a:extLst>
          </p:cNvPr>
          <p:cNvSpPr/>
          <p:nvPr/>
        </p:nvSpPr>
        <p:spPr>
          <a:xfrm>
            <a:off x="5446156" y="5319152"/>
            <a:ext cx="370623" cy="11270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7CB8A9-8D27-1C72-A444-66167E311DE3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63417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5970E0D-6D16-1FA6-C0A5-F6D1F3F9627B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27473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86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509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98445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48984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Push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C6EEE6-04D7-A6C4-F24F-16C7D618F69B}"/>
              </a:ext>
            </a:extLst>
          </p:cNvPr>
          <p:cNvSpPr/>
          <p:nvPr/>
        </p:nvSpPr>
        <p:spPr>
          <a:xfrm>
            <a:off x="9535719" y="4463968"/>
            <a:ext cx="1632857" cy="47501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Commit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E31CFFE-7BE0-07FD-62AF-F346A9E1A006}"/>
              </a:ext>
            </a:extLst>
          </p:cNvPr>
          <p:cNvSpPr/>
          <p:nvPr/>
        </p:nvSpPr>
        <p:spPr>
          <a:xfrm rot="10800000">
            <a:off x="9168740" y="4638794"/>
            <a:ext cx="370623" cy="11270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9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60707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390208-1651-034E-E50D-E004E6F9F9DF}"/>
              </a:ext>
            </a:extLst>
          </p:cNvPr>
          <p:cNvCxnSpPr>
            <a:cxnSpLocks/>
          </p:cNvCxnSpPr>
          <p:nvPr/>
        </p:nvCxnSpPr>
        <p:spPr>
          <a:xfrm>
            <a:off x="8971312" y="4186546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80CCDD8-C974-370F-F296-F9952DB43715}"/>
              </a:ext>
            </a:extLst>
          </p:cNvPr>
          <p:cNvSpPr/>
          <p:nvPr/>
        </p:nvSpPr>
        <p:spPr>
          <a:xfrm>
            <a:off x="7204362" y="4242953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9A434D-12AF-C356-49D9-7B59483AE14E}"/>
              </a:ext>
            </a:extLst>
          </p:cNvPr>
          <p:cNvSpPr txBox="1"/>
          <p:nvPr/>
        </p:nvSpPr>
        <p:spPr>
          <a:xfrm>
            <a:off x="7689271" y="3965017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374317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60707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390208-1651-034E-E50D-E004E6F9F9DF}"/>
              </a:ext>
            </a:extLst>
          </p:cNvPr>
          <p:cNvCxnSpPr>
            <a:cxnSpLocks/>
          </p:cNvCxnSpPr>
          <p:nvPr/>
        </p:nvCxnSpPr>
        <p:spPr>
          <a:xfrm>
            <a:off x="8971312" y="4186546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1DB1D91-61AA-EE20-3A6A-EE9E2E0FD4A8}"/>
              </a:ext>
            </a:extLst>
          </p:cNvPr>
          <p:cNvSpPr/>
          <p:nvPr/>
        </p:nvSpPr>
        <p:spPr>
          <a:xfrm>
            <a:off x="8825672" y="3888340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80CCDD8-C974-370F-F296-F9952DB43715}"/>
              </a:ext>
            </a:extLst>
          </p:cNvPr>
          <p:cNvSpPr/>
          <p:nvPr/>
        </p:nvSpPr>
        <p:spPr>
          <a:xfrm>
            <a:off x="7204362" y="4242953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9A434D-12AF-C356-49D9-7B59483AE14E}"/>
              </a:ext>
            </a:extLst>
          </p:cNvPr>
          <p:cNvSpPr txBox="1"/>
          <p:nvPr/>
        </p:nvSpPr>
        <p:spPr>
          <a:xfrm>
            <a:off x="7689271" y="3965017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214607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498D3-B2E4-86A2-89C4-5E3DFA260A74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D23FAA-99D8-275F-3924-E19E9B309A27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60707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390208-1651-034E-E50D-E004E6F9F9DF}"/>
              </a:ext>
            </a:extLst>
          </p:cNvPr>
          <p:cNvCxnSpPr>
            <a:cxnSpLocks/>
          </p:cNvCxnSpPr>
          <p:nvPr/>
        </p:nvCxnSpPr>
        <p:spPr>
          <a:xfrm>
            <a:off x="8971312" y="4186546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D25E7BD-4E5C-1051-3013-F7BB6C771EA6}"/>
              </a:ext>
            </a:extLst>
          </p:cNvPr>
          <p:cNvSpPr/>
          <p:nvPr/>
        </p:nvSpPr>
        <p:spPr>
          <a:xfrm>
            <a:off x="8817426" y="3879269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7122E9F-3376-5334-D1AE-1C3D0C993A65}"/>
              </a:ext>
            </a:extLst>
          </p:cNvPr>
          <p:cNvSpPr/>
          <p:nvPr/>
        </p:nvSpPr>
        <p:spPr>
          <a:xfrm rot="10800000">
            <a:off x="7204363" y="398549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2A9283-F6AB-EDB0-6F62-F73BCAF586AF}"/>
              </a:ext>
            </a:extLst>
          </p:cNvPr>
          <p:cNvSpPr txBox="1"/>
          <p:nvPr/>
        </p:nvSpPr>
        <p:spPr>
          <a:xfrm>
            <a:off x="7649688" y="3704934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Push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12884-DFCE-2F32-D534-20047C489633}"/>
              </a:ext>
            </a:extLst>
          </p:cNvPr>
          <p:cNvCxnSpPr>
            <a:cxnSpLocks/>
          </p:cNvCxnSpPr>
          <p:nvPr/>
        </p:nvCxnSpPr>
        <p:spPr>
          <a:xfrm>
            <a:off x="6022273" y="4206338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BFA9C6D-1C90-709B-5955-D9A08C88C2CC}"/>
              </a:ext>
            </a:extLst>
          </p:cNvPr>
          <p:cNvSpPr/>
          <p:nvPr/>
        </p:nvSpPr>
        <p:spPr>
          <a:xfrm>
            <a:off x="5868387" y="3899061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742F199-A00A-B775-ED3A-72951A96C02B}"/>
              </a:ext>
            </a:extLst>
          </p:cNvPr>
          <p:cNvSpPr/>
          <p:nvPr/>
        </p:nvSpPr>
        <p:spPr>
          <a:xfrm>
            <a:off x="7204362" y="4242953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0D98-435B-DBFE-AF77-2A8166BD168D}"/>
              </a:ext>
            </a:extLst>
          </p:cNvPr>
          <p:cNvSpPr txBox="1"/>
          <p:nvPr/>
        </p:nvSpPr>
        <p:spPr>
          <a:xfrm>
            <a:off x="7689271" y="3976740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835620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22706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61510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390208-1651-034E-E50D-E004E6F9F9DF}"/>
              </a:ext>
            </a:extLst>
          </p:cNvPr>
          <p:cNvCxnSpPr>
            <a:cxnSpLocks/>
          </p:cNvCxnSpPr>
          <p:nvPr/>
        </p:nvCxnSpPr>
        <p:spPr>
          <a:xfrm>
            <a:off x="8971312" y="4186546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D25E7BD-4E5C-1051-3013-F7BB6C771EA6}"/>
              </a:ext>
            </a:extLst>
          </p:cNvPr>
          <p:cNvSpPr/>
          <p:nvPr/>
        </p:nvSpPr>
        <p:spPr>
          <a:xfrm>
            <a:off x="8817426" y="3879269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7122E9F-3376-5334-D1AE-1C3D0C993A65}"/>
              </a:ext>
            </a:extLst>
          </p:cNvPr>
          <p:cNvSpPr/>
          <p:nvPr/>
        </p:nvSpPr>
        <p:spPr>
          <a:xfrm rot="10800000">
            <a:off x="7204363" y="398549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2A9283-F6AB-EDB0-6F62-F73BCAF586AF}"/>
              </a:ext>
            </a:extLst>
          </p:cNvPr>
          <p:cNvSpPr txBox="1"/>
          <p:nvPr/>
        </p:nvSpPr>
        <p:spPr>
          <a:xfrm>
            <a:off x="7649688" y="3704934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12884-DFCE-2F32-D534-20047C489633}"/>
              </a:ext>
            </a:extLst>
          </p:cNvPr>
          <p:cNvCxnSpPr>
            <a:cxnSpLocks/>
          </p:cNvCxnSpPr>
          <p:nvPr/>
        </p:nvCxnSpPr>
        <p:spPr>
          <a:xfrm>
            <a:off x="6022273" y="4206338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BFA9C6D-1C90-709B-5955-D9A08C88C2CC}"/>
              </a:ext>
            </a:extLst>
          </p:cNvPr>
          <p:cNvSpPr/>
          <p:nvPr/>
        </p:nvSpPr>
        <p:spPr>
          <a:xfrm>
            <a:off x="5868387" y="3899061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5F47B2-9314-690E-8A47-604564D7660D}"/>
              </a:ext>
            </a:extLst>
          </p:cNvPr>
          <p:cNvCxnSpPr>
            <a:cxnSpLocks/>
          </p:cNvCxnSpPr>
          <p:nvPr/>
        </p:nvCxnSpPr>
        <p:spPr>
          <a:xfrm flipH="1">
            <a:off x="3047505" y="4206338"/>
            <a:ext cx="15833" cy="99356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5C0086B-119F-9CD0-C7DE-457C48BB8CF5}"/>
              </a:ext>
            </a:extLst>
          </p:cNvPr>
          <p:cNvSpPr/>
          <p:nvPr/>
        </p:nvSpPr>
        <p:spPr>
          <a:xfrm rot="10800000">
            <a:off x="3572492" y="4007920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658C52-1584-DACC-3C91-50552932B76F}"/>
              </a:ext>
            </a:extLst>
          </p:cNvPr>
          <p:cNvSpPr txBox="1"/>
          <p:nvPr/>
        </p:nvSpPr>
        <p:spPr>
          <a:xfrm>
            <a:off x="3681349" y="3729985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Pull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CEF99AA-B862-F924-FA17-C3DD7E1A53A7}"/>
              </a:ext>
            </a:extLst>
          </p:cNvPr>
          <p:cNvSpPr/>
          <p:nvPr/>
        </p:nvSpPr>
        <p:spPr>
          <a:xfrm>
            <a:off x="2889659" y="3899061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C6EEE6-04D7-A6C4-F24F-16C7D618F69B}"/>
              </a:ext>
            </a:extLst>
          </p:cNvPr>
          <p:cNvSpPr/>
          <p:nvPr/>
        </p:nvSpPr>
        <p:spPr>
          <a:xfrm>
            <a:off x="545934" y="3847110"/>
            <a:ext cx="1895928" cy="3933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Updated Project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E31CFFE-7BE0-07FD-62AF-F346A9E1A006}"/>
              </a:ext>
            </a:extLst>
          </p:cNvPr>
          <p:cNvSpPr/>
          <p:nvPr/>
        </p:nvSpPr>
        <p:spPr>
          <a:xfrm>
            <a:off x="2437740" y="3994723"/>
            <a:ext cx="370623" cy="11270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227C203D-EB05-EC53-EFA8-441EBEBC694E}"/>
              </a:ext>
            </a:extLst>
          </p:cNvPr>
          <p:cNvSpPr/>
          <p:nvPr/>
        </p:nvSpPr>
        <p:spPr>
          <a:xfrm>
            <a:off x="7204362" y="4242953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B4D81D-8833-CCC4-721C-FF7DE13A28AF}"/>
              </a:ext>
            </a:extLst>
          </p:cNvPr>
          <p:cNvSpPr txBox="1"/>
          <p:nvPr/>
        </p:nvSpPr>
        <p:spPr>
          <a:xfrm>
            <a:off x="7689271" y="3976740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9BAD0-CC8E-BCFC-AEF6-5F2859531A83}"/>
              </a:ext>
            </a:extLst>
          </p:cNvPr>
          <p:cNvSpPr txBox="1"/>
          <p:nvPr/>
        </p:nvSpPr>
        <p:spPr>
          <a:xfrm>
            <a:off x="3681350" y="5135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32" name="Arrow: Right 18">
            <a:extLst>
              <a:ext uri="{FF2B5EF4-FFF2-40B4-BE49-F238E27FC236}">
                <a16:creationId xmlns:a16="http://schemas.microsoft.com/office/drawing/2014/main" id="{4B8836E1-F8EB-57C0-296D-6E1C91831C6B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88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A-0606-ADF6-EEB1-1D60F63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309697"/>
          </a:xfrm>
        </p:spPr>
        <p:txBody>
          <a:bodyPr/>
          <a:lstStyle/>
          <a:p>
            <a:r>
              <a:rPr lang="en-US"/>
              <a:t>Remote Location –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B620-761D-0755-B45C-EC6E174B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26061-5B82-41BC-813D-FAD6ED8B8855}"/>
              </a:ext>
            </a:extLst>
          </p:cNvPr>
          <p:cNvSpPr/>
          <p:nvPr/>
        </p:nvSpPr>
        <p:spPr>
          <a:xfrm>
            <a:off x="1830779" y="2642259"/>
            <a:ext cx="2444337" cy="405740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Emily's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C7DA0-E928-D398-C174-69C0F9DC3D9C}"/>
              </a:ext>
            </a:extLst>
          </p:cNvPr>
          <p:cNvSpPr/>
          <p:nvPr/>
        </p:nvSpPr>
        <p:spPr>
          <a:xfrm>
            <a:off x="4760025" y="2642259"/>
            <a:ext cx="2444337" cy="40574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Remote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C7BF7-B0F1-BBD5-2915-A4C5347CDF60}"/>
              </a:ext>
            </a:extLst>
          </p:cNvPr>
          <p:cNvSpPr/>
          <p:nvPr/>
        </p:nvSpPr>
        <p:spPr>
          <a:xfrm>
            <a:off x="7689272" y="2642258"/>
            <a:ext cx="2444337" cy="4057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Bob's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41B4D-15F8-F227-92B3-4DE3CA28FFFB}"/>
              </a:ext>
            </a:extLst>
          </p:cNvPr>
          <p:cNvSpPr/>
          <p:nvPr/>
        </p:nvSpPr>
        <p:spPr>
          <a:xfrm>
            <a:off x="1830779" y="3047999"/>
            <a:ext cx="2444337" cy="277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016A2-D29B-AF9F-14F9-63D7EE1C9852}"/>
              </a:ext>
            </a:extLst>
          </p:cNvPr>
          <p:cNvSpPr/>
          <p:nvPr/>
        </p:nvSpPr>
        <p:spPr>
          <a:xfrm>
            <a:off x="4760025" y="3047999"/>
            <a:ext cx="2444337" cy="27709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6E68B-D029-B38A-C9FA-FBFDAABA1B2B}"/>
              </a:ext>
            </a:extLst>
          </p:cNvPr>
          <p:cNvSpPr/>
          <p:nvPr/>
        </p:nvSpPr>
        <p:spPr>
          <a:xfrm>
            <a:off x="7689272" y="3047998"/>
            <a:ext cx="2444337" cy="27709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cat logo&#10;&#10;Description automatically generated">
            <a:extLst>
              <a:ext uri="{FF2B5EF4-FFF2-40B4-BE49-F238E27FC236}">
                <a16:creationId xmlns:a16="http://schemas.microsoft.com/office/drawing/2014/main" id="{872C3379-C831-3ECE-9789-22B4141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17" r="3030" b="712"/>
          <a:stretch/>
        </p:blipFill>
        <p:spPr>
          <a:xfrm>
            <a:off x="5767467" y="2051462"/>
            <a:ext cx="513997" cy="587273"/>
          </a:xfrm>
          <a:prstGeom prst="rect">
            <a:avLst/>
          </a:prstGeom>
        </p:spPr>
      </p:pic>
      <p:pic>
        <p:nvPicPr>
          <p:cNvPr id="13" name="Graphic 12" descr="Programmer male with solid fill">
            <a:extLst>
              <a:ext uri="{FF2B5EF4-FFF2-40B4-BE49-F238E27FC236}">
                <a16:creationId xmlns:a16="http://schemas.microsoft.com/office/drawing/2014/main" id="{6556EB63-E7C2-EB51-C73A-70A615DBE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7865" y="2051462"/>
            <a:ext cx="597725" cy="587829"/>
          </a:xfrm>
          <a:prstGeom prst="rect">
            <a:avLst/>
          </a:prstGeom>
        </p:spPr>
      </p:pic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8783A3AD-04F7-56FE-255A-926F8377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29" y="2045896"/>
            <a:ext cx="508660" cy="5977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A9A9504-0517-1FCA-E425-4910305EEB12}"/>
              </a:ext>
            </a:extLst>
          </p:cNvPr>
          <p:cNvSpPr/>
          <p:nvPr/>
        </p:nvSpPr>
        <p:spPr>
          <a:xfrm>
            <a:off x="2889661" y="5215245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9FA98-9DA6-200C-31E4-9A7DD94F72B8}"/>
              </a:ext>
            </a:extLst>
          </p:cNvPr>
          <p:cNvCxnSpPr/>
          <p:nvPr/>
        </p:nvCxnSpPr>
        <p:spPr>
          <a:xfrm>
            <a:off x="5781675" y="311467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CC57E-FAB1-B085-DA70-2B9BA9AA3A26}"/>
              </a:ext>
            </a:extLst>
          </p:cNvPr>
          <p:cNvCxnSpPr/>
          <p:nvPr/>
        </p:nvCxnSpPr>
        <p:spPr>
          <a:xfrm>
            <a:off x="5924550" y="325754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B954F3C-1BB9-6575-AF37-B701C140BB8E}"/>
              </a:ext>
            </a:extLst>
          </p:cNvPr>
          <p:cNvSpPr/>
          <p:nvPr/>
        </p:nvSpPr>
        <p:spPr>
          <a:xfrm>
            <a:off x="5868388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54355D1-64EC-1469-1DE3-BEEC86A5E789}"/>
              </a:ext>
            </a:extLst>
          </p:cNvPr>
          <p:cNvSpPr/>
          <p:nvPr/>
        </p:nvSpPr>
        <p:spPr>
          <a:xfrm>
            <a:off x="720436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6CB6F-6F2B-1E28-6A4C-3ED264CACD07}"/>
              </a:ext>
            </a:extLst>
          </p:cNvPr>
          <p:cNvSpPr txBox="1"/>
          <p:nvPr/>
        </p:nvSpPr>
        <p:spPr>
          <a:xfrm>
            <a:off x="7689272" y="5135232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3DF116-4849-E4EE-CDED-CEA42E01FD8D}"/>
              </a:ext>
            </a:extLst>
          </p:cNvPr>
          <p:cNvSpPr/>
          <p:nvPr/>
        </p:nvSpPr>
        <p:spPr>
          <a:xfrm>
            <a:off x="8827322" y="5195452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43334C-D7E2-68CF-DDF0-1828EBF6B6C0}"/>
              </a:ext>
            </a:extLst>
          </p:cNvPr>
          <p:cNvCxnSpPr/>
          <p:nvPr/>
        </p:nvCxnSpPr>
        <p:spPr>
          <a:xfrm>
            <a:off x="6067425" y="3400424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7ED69A-FF80-2D3B-870D-A3B0B3F61E5A}"/>
              </a:ext>
            </a:extLst>
          </p:cNvPr>
          <p:cNvCxnSpPr/>
          <p:nvPr/>
        </p:nvCxnSpPr>
        <p:spPr>
          <a:xfrm>
            <a:off x="8981209" y="484958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2080D3-98D3-F41B-6BB8-F2CAE66D2367}"/>
              </a:ext>
            </a:extLst>
          </p:cNvPr>
          <p:cNvSpPr/>
          <p:nvPr/>
        </p:nvSpPr>
        <p:spPr>
          <a:xfrm>
            <a:off x="8827322" y="4542308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94C886-0EB1-1A38-9349-1F738A87BAEE}"/>
              </a:ext>
            </a:extLst>
          </p:cNvPr>
          <p:cNvSpPr/>
          <p:nvPr/>
        </p:nvSpPr>
        <p:spPr>
          <a:xfrm rot="10800000">
            <a:off x="7204363" y="4641271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CC02A-12F2-97E0-F4D5-BCC39D8558A5}"/>
              </a:ext>
            </a:extLst>
          </p:cNvPr>
          <p:cNvCxnSpPr>
            <a:cxnSpLocks/>
          </p:cNvCxnSpPr>
          <p:nvPr/>
        </p:nvCxnSpPr>
        <p:spPr>
          <a:xfrm>
            <a:off x="6022274" y="4839689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5042CF6-C9A9-5B9D-0AC6-B64349082C96}"/>
              </a:ext>
            </a:extLst>
          </p:cNvPr>
          <p:cNvSpPr/>
          <p:nvPr/>
        </p:nvSpPr>
        <p:spPr>
          <a:xfrm>
            <a:off x="5868387" y="4532412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D01DF6-C0BC-E1A5-2A37-337AAA5A4F71}"/>
              </a:ext>
            </a:extLst>
          </p:cNvPr>
          <p:cNvSpPr txBox="1"/>
          <p:nvPr/>
        </p:nvSpPr>
        <p:spPr>
          <a:xfrm>
            <a:off x="7649688" y="4373233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390208-1651-034E-E50D-E004E6F9F9DF}"/>
              </a:ext>
            </a:extLst>
          </p:cNvPr>
          <p:cNvCxnSpPr>
            <a:cxnSpLocks/>
          </p:cNvCxnSpPr>
          <p:nvPr/>
        </p:nvCxnSpPr>
        <p:spPr>
          <a:xfrm>
            <a:off x="8971312" y="4186546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D25E7BD-4E5C-1051-3013-F7BB6C771EA6}"/>
              </a:ext>
            </a:extLst>
          </p:cNvPr>
          <p:cNvSpPr/>
          <p:nvPr/>
        </p:nvSpPr>
        <p:spPr>
          <a:xfrm>
            <a:off x="8817426" y="3879269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7122E9F-3376-5334-D1AE-1C3D0C993A65}"/>
              </a:ext>
            </a:extLst>
          </p:cNvPr>
          <p:cNvSpPr/>
          <p:nvPr/>
        </p:nvSpPr>
        <p:spPr>
          <a:xfrm rot="10800000">
            <a:off x="7204363" y="398549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2A9283-F6AB-EDB0-6F62-F73BCAF586AF}"/>
              </a:ext>
            </a:extLst>
          </p:cNvPr>
          <p:cNvSpPr txBox="1"/>
          <p:nvPr/>
        </p:nvSpPr>
        <p:spPr>
          <a:xfrm>
            <a:off x="7649688" y="3704934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Push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12884-DFCE-2F32-D534-20047C489633}"/>
              </a:ext>
            </a:extLst>
          </p:cNvPr>
          <p:cNvCxnSpPr>
            <a:cxnSpLocks/>
          </p:cNvCxnSpPr>
          <p:nvPr/>
        </p:nvCxnSpPr>
        <p:spPr>
          <a:xfrm>
            <a:off x="6022273" y="4206338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BFA9C6D-1C90-709B-5955-D9A08C88C2CC}"/>
              </a:ext>
            </a:extLst>
          </p:cNvPr>
          <p:cNvSpPr/>
          <p:nvPr/>
        </p:nvSpPr>
        <p:spPr>
          <a:xfrm>
            <a:off x="5868387" y="3899061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5F47B2-9314-690E-8A47-604564D7660D}"/>
              </a:ext>
            </a:extLst>
          </p:cNvPr>
          <p:cNvCxnSpPr>
            <a:cxnSpLocks/>
          </p:cNvCxnSpPr>
          <p:nvPr/>
        </p:nvCxnSpPr>
        <p:spPr>
          <a:xfrm flipH="1">
            <a:off x="3047505" y="4206338"/>
            <a:ext cx="15833" cy="99356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5C0086B-119F-9CD0-C7DE-457C48BB8CF5}"/>
              </a:ext>
            </a:extLst>
          </p:cNvPr>
          <p:cNvSpPr/>
          <p:nvPr/>
        </p:nvSpPr>
        <p:spPr>
          <a:xfrm rot="10800000">
            <a:off x="3572492" y="4007920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658C52-1584-DACC-3C91-50552932B76F}"/>
              </a:ext>
            </a:extLst>
          </p:cNvPr>
          <p:cNvSpPr txBox="1"/>
          <p:nvPr/>
        </p:nvSpPr>
        <p:spPr>
          <a:xfrm>
            <a:off x="3681349" y="3741708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Pull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CEF99AA-B862-F924-FA17-C3DD7E1A53A7}"/>
              </a:ext>
            </a:extLst>
          </p:cNvPr>
          <p:cNvSpPr/>
          <p:nvPr/>
        </p:nvSpPr>
        <p:spPr>
          <a:xfrm>
            <a:off x="2889659" y="3899061"/>
            <a:ext cx="316675" cy="306779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7D83E0-EF8F-0DE4-A98C-98459EACAFF2}"/>
              </a:ext>
            </a:extLst>
          </p:cNvPr>
          <p:cNvCxnSpPr>
            <a:cxnSpLocks/>
          </p:cNvCxnSpPr>
          <p:nvPr/>
        </p:nvCxnSpPr>
        <p:spPr>
          <a:xfrm>
            <a:off x="3043545" y="3553195"/>
            <a:ext cx="3959" cy="3404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7BD5078F-A6BD-F088-CDFC-BAA6472BC28B}"/>
              </a:ext>
            </a:extLst>
          </p:cNvPr>
          <p:cNvSpPr/>
          <p:nvPr/>
        </p:nvSpPr>
        <p:spPr>
          <a:xfrm>
            <a:off x="2889660" y="3275607"/>
            <a:ext cx="316675" cy="306779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C6EEE6-04D7-A6C4-F24F-16C7D618F69B}"/>
              </a:ext>
            </a:extLst>
          </p:cNvPr>
          <p:cNvSpPr/>
          <p:nvPr/>
        </p:nvSpPr>
        <p:spPr>
          <a:xfrm>
            <a:off x="809005" y="3175825"/>
            <a:ext cx="1632857" cy="47501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More work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E31CFFE-7BE0-07FD-62AF-F346A9E1A006}"/>
              </a:ext>
            </a:extLst>
          </p:cNvPr>
          <p:cNvSpPr/>
          <p:nvPr/>
        </p:nvSpPr>
        <p:spPr>
          <a:xfrm>
            <a:off x="2437740" y="3359723"/>
            <a:ext cx="370623" cy="11270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65C061A-1B88-F857-A90C-420B697052A0}"/>
              </a:ext>
            </a:extLst>
          </p:cNvPr>
          <p:cNvSpPr/>
          <p:nvPr/>
        </p:nvSpPr>
        <p:spPr>
          <a:xfrm>
            <a:off x="7204362" y="4242953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9CE3E6-A085-1DEF-849A-3829997774E0}"/>
              </a:ext>
            </a:extLst>
          </p:cNvPr>
          <p:cNvSpPr txBox="1"/>
          <p:nvPr/>
        </p:nvSpPr>
        <p:spPr>
          <a:xfrm>
            <a:off x="7689271" y="3976740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Pull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33B93-404B-AACC-2FA9-B96ACF90DC5E}"/>
              </a:ext>
            </a:extLst>
          </p:cNvPr>
          <p:cNvSpPr txBox="1"/>
          <p:nvPr/>
        </p:nvSpPr>
        <p:spPr>
          <a:xfrm>
            <a:off x="3681350" y="5146956"/>
            <a:ext cx="880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Clone</a:t>
            </a:r>
          </a:p>
        </p:txBody>
      </p:sp>
      <p:sp>
        <p:nvSpPr>
          <p:cNvPr id="32" name="Arrow: Right 18">
            <a:extLst>
              <a:ext uri="{FF2B5EF4-FFF2-40B4-BE49-F238E27FC236}">
                <a16:creationId xmlns:a16="http://schemas.microsoft.com/office/drawing/2014/main" id="{47BAEE2C-C511-D3BA-39BF-5CD68387E056}"/>
              </a:ext>
            </a:extLst>
          </p:cNvPr>
          <p:cNvSpPr/>
          <p:nvPr/>
        </p:nvSpPr>
        <p:spPr>
          <a:xfrm rot="10800000">
            <a:off x="3572493" y="5413168"/>
            <a:ext cx="1187532" cy="10885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42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7D0C-3EFA-7311-0A55-2CCACE57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197185"/>
          </a:xfrm>
        </p:spPr>
        <p:txBody>
          <a:bodyPr/>
          <a:lstStyle/>
          <a:p>
            <a:r>
              <a:rPr lang="en-US" dirty="0"/>
              <a:t>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2096B-22CE-5E19-5765-9B6C39918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916482"/>
            <a:ext cx="8047080" cy="45344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Share and Work Together: </a:t>
            </a:r>
            <a:r>
              <a:rPr lang="en-US" sz="2400" b="0" dirty="0">
                <a:solidFill>
                  <a:srgbClr val="0E0E0E"/>
                </a:solidFill>
                <a:effectLst/>
                <a:latin typeface="Tenorite" pitchFamily="2" charset="0"/>
              </a:rPr>
              <a:t>GitHub makes it easy to collaborate by allowing multiple people to work on the same project at the same time, sharing changes through repositories.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Syncing is Key:</a:t>
            </a:r>
            <a:r>
              <a:rPr lang="en-US" sz="2400" dirty="0">
                <a:solidFill>
                  <a:srgbClr val="0E0E0E"/>
                </a:solidFill>
                <a:effectLst/>
                <a:latin typeface="Tenorite" pitchFamily="2" charset="0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Tenorite" pitchFamily="2" charset="0"/>
              </a:rPr>
              <a:t>Always pull the latest changes from the repository before you start working to ensure you’re up to date with your team’s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Tenorite" pitchFamily="2" charset="0"/>
              </a:rPr>
              <a:t>Track and Communicate Changes:</a:t>
            </a:r>
            <a:r>
              <a:rPr lang="en-US" sz="2400" b="1" dirty="0">
                <a:solidFill>
                  <a:srgbClr val="0E0E0E"/>
                </a:solidFill>
                <a:latin typeface="Tenorite" pitchFamily="2" charset="0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Tenorite" pitchFamily="2" charset="0"/>
              </a:rPr>
              <a:t>Use clear commit messages to describe your updates so everyone understands what’s been changed and why.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833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0109-CFE6-28DD-D373-E96532A2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560440"/>
          </a:xfrm>
        </p:spPr>
        <p:txBody>
          <a:bodyPr/>
          <a:lstStyle/>
          <a:p>
            <a:r>
              <a:rPr lang="en-US" dirty="0"/>
              <a:t>Cloning Other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3161-CFC1-7535-BA4D-B7F0B6074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895600"/>
            <a:ext cx="7288212" cy="3274529"/>
          </a:xfrm>
        </p:spPr>
        <p:txBody>
          <a:bodyPr/>
          <a:lstStyle/>
          <a:p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Cloning creates a local copy of a repository on your computer, allowing you to view, edit, and work with the files offline without affecting the original repository.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88CBD-9436-711B-B886-50ED58C5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76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A28BF-37E2-FAE8-DEF5-F1B8D9EC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686B7-5676-9C02-52CC-7A5EC0D0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31" y="-62494"/>
            <a:ext cx="9988062" cy="6959635"/>
          </a:xfrm>
          <a:prstGeom prst="rect">
            <a:avLst/>
          </a:prstGeom>
        </p:spPr>
      </p:pic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6F295C0D-3C5A-7639-B540-DEE1478E8D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37557" y="2616321"/>
            <a:ext cx="4192953" cy="3406775"/>
          </a:xfrm>
          <a:ln w="57150">
            <a:solidFill>
              <a:srgbClr val="FF0000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7844FD-ACE9-52E0-C066-210E187A9EB3}"/>
              </a:ext>
            </a:extLst>
          </p:cNvPr>
          <p:cNvSpPr/>
          <p:nvPr/>
        </p:nvSpPr>
        <p:spPr>
          <a:xfrm>
            <a:off x="5955324" y="2162233"/>
            <a:ext cx="961292" cy="3496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2998B4-2506-EE38-A5A7-635848602B0F}"/>
              </a:ext>
            </a:extLst>
          </p:cNvPr>
          <p:cNvCxnSpPr>
            <a:cxnSpLocks/>
          </p:cNvCxnSpPr>
          <p:nvPr/>
        </p:nvCxnSpPr>
        <p:spPr>
          <a:xfrm>
            <a:off x="6916616" y="2162233"/>
            <a:ext cx="691661" cy="414524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E2408E-AD5A-1A46-F01C-AA9121E2F4C8}"/>
              </a:ext>
            </a:extLst>
          </p:cNvPr>
          <p:cNvCxnSpPr>
            <a:cxnSpLocks/>
          </p:cNvCxnSpPr>
          <p:nvPr/>
        </p:nvCxnSpPr>
        <p:spPr>
          <a:xfrm>
            <a:off x="5955324" y="2511851"/>
            <a:ext cx="1652953" cy="3511245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693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81DCF-729C-6DE1-1DC5-15B0E4F4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7566D-9C04-4414-C9A3-D562E897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36" y="0"/>
            <a:ext cx="10036195" cy="68959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DD361D-DBCE-A36F-B35C-89E6AA04534B}"/>
              </a:ext>
            </a:extLst>
          </p:cNvPr>
          <p:cNvSpPr/>
          <p:nvPr/>
        </p:nvSpPr>
        <p:spPr>
          <a:xfrm>
            <a:off x="6459416" y="2409093"/>
            <a:ext cx="1547446" cy="3165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C8DEC-C9F0-D55A-0BB2-6E9C6852883C}"/>
              </a:ext>
            </a:extLst>
          </p:cNvPr>
          <p:cNvSpPr/>
          <p:nvPr/>
        </p:nvSpPr>
        <p:spPr>
          <a:xfrm>
            <a:off x="3059722" y="3324893"/>
            <a:ext cx="4829909" cy="3165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25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2137727" cy="871508"/>
          </a:xfrm>
        </p:spPr>
        <p:txBody>
          <a:bodyPr/>
          <a:lstStyle/>
          <a:p>
            <a:r>
              <a:rPr lang="en-US" dirty="0"/>
              <a:t>Resolving Conflicts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F1EAC60-1C86-C159-9631-7B0F37B2A4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33565" y="0"/>
            <a:ext cx="9992402" cy="6858000"/>
          </a:xfr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55175-A747-1021-30B7-44234F9C17DA}"/>
              </a:ext>
            </a:extLst>
          </p:cNvPr>
          <p:cNvSpPr txBox="1"/>
          <p:nvPr/>
        </p:nvSpPr>
        <p:spPr>
          <a:xfrm>
            <a:off x="448692" y="1360570"/>
            <a:ext cx="4073204" cy="517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What Are Conflicts?</a:t>
            </a:r>
            <a:endParaRPr lang="en-US" sz="2200" dirty="0">
              <a:solidFill>
                <a:srgbClr val="0E0E0E"/>
              </a:solidFill>
              <a:effectLst/>
              <a:latin typeface="Tenorite" pitchFamily="2" charset="0"/>
            </a:endParaRPr>
          </a:p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Conflicts happen when two people make changes to the same part of a file in a repository and Git cannot automatically decide which change to keep.</a:t>
            </a:r>
          </a:p>
          <a:p>
            <a:r>
              <a:rPr lang="en-US" sz="2200" b="1" dirty="0">
                <a:solidFill>
                  <a:srgbClr val="0E0E0E"/>
                </a:solidFill>
                <a:effectLst/>
                <a:latin typeface=".AppleSystemUIFont"/>
              </a:rPr>
              <a:t>How to Resolve Conflicts?</a:t>
            </a:r>
            <a:endParaRPr lang="en-US" sz="2200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Git shows you the conflicting sections, and you decide how to combine the changes.</a:t>
            </a:r>
          </a:p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Conflicts are resolved locally (on your computer) or online (on GitHub, using the conflict editor).</a:t>
            </a:r>
          </a:p>
        </p:txBody>
      </p:sp>
    </p:spTree>
    <p:extLst>
      <p:ext uri="{BB962C8B-B14F-4D97-AF65-F5344CB8AC3E}">
        <p14:creationId xmlns:p14="http://schemas.microsoft.com/office/powerpoint/2010/main" val="2528115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AD4F-FDC9-C61C-0944-6E1E5EB5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391024"/>
            <a:ext cx="7288282" cy="1437776"/>
          </a:xfrm>
        </p:spPr>
        <p:txBody>
          <a:bodyPr/>
          <a:lstStyle/>
          <a:p>
            <a:r>
              <a:rPr lang="en-US" dirty="0"/>
              <a:t>Collaborate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5B9C7-CF46-89C4-2348-DEFE37EB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Follow the 3_collaborate.md file in the Practice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Add a collaborator to your repository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Make conflicting edits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Resolve conflicts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46221-298C-9C94-2F08-63C04A20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957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Collaborate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7BAF-29AF-A94E-D379-86468B67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012091"/>
          </a:xfrm>
        </p:spPr>
        <p:txBody>
          <a:bodyPr anchor="b">
            <a:normAutofit/>
          </a:bodyPr>
          <a:lstStyle/>
          <a:p>
            <a:r>
              <a:rPr lang="en-US" dirty="0"/>
              <a:t>BRANCHING</a:t>
            </a:r>
          </a:p>
        </p:txBody>
      </p:sp>
      <p:sp>
        <p:nvSpPr>
          <p:cNvPr id="1031" name="Text Placeholder 2">
            <a:extLst>
              <a:ext uri="{FF2B5EF4-FFF2-40B4-BE49-F238E27FC236}">
                <a16:creationId xmlns:a16="http://schemas.microsoft.com/office/drawing/2014/main" id="{0035D891-C5F6-4055-16A8-9C28770A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3550" y="1921784"/>
            <a:ext cx="3031587" cy="44627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What is Branching? </a:t>
            </a:r>
          </a:p>
        </p:txBody>
      </p:sp>
      <p:sp>
        <p:nvSpPr>
          <p:cNvPr id="1033" name="Content Placeholder 3">
            <a:extLst>
              <a:ext uri="{FF2B5EF4-FFF2-40B4-BE49-F238E27FC236}">
                <a16:creationId xmlns:a16="http://schemas.microsoft.com/office/drawing/2014/main" id="{25F7FCEA-4F2C-AFD5-2008-69443148F33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19" y="3002843"/>
            <a:ext cx="6700911" cy="3296355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Branching is a way to create a separate version of your project within the same repository.</a:t>
            </a:r>
          </a:p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It allows you to work on new features, fix bugs, or experiment without affecting the main (production) version of your code.</a:t>
            </a:r>
          </a:p>
          <a:p>
            <a:pPr>
              <a:spcBef>
                <a:spcPts val="900"/>
              </a:spcBef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The </a:t>
            </a:r>
            <a:r>
              <a:rPr lang="en-US" sz="2200" b="1" dirty="0">
                <a:solidFill>
                  <a:srgbClr val="0E0E0E"/>
                </a:solidFill>
                <a:effectLst/>
                <a:latin typeface=".AppleSystemUIFont"/>
              </a:rPr>
              <a:t>main branch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 (sometimes called 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Monospaced"/>
              </a:rPr>
              <a:t>master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) is the default branch created and is typically the stable version of the project.</a:t>
            </a:r>
          </a:p>
        </p:txBody>
      </p:sp>
      <p:pic>
        <p:nvPicPr>
          <p:cNvPr id="1026" name="Picture 2" descr="Git Branches: List, Create, Switch to, Merge, Push, &amp; Delete">
            <a:extLst>
              <a:ext uri="{FF2B5EF4-FFF2-40B4-BE49-F238E27FC236}">
                <a16:creationId xmlns:a16="http://schemas.microsoft.com/office/drawing/2014/main" id="{5D304D08-101E-20AA-F68E-7BD5A59D9184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5599" y="406809"/>
            <a:ext cx="5066453" cy="259603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E56FF-7DE1-0540-AD6F-8606274877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82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59A3-ABC0-18D6-076F-4E802AF6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044625"/>
          </a:xfrm>
        </p:spPr>
        <p:txBody>
          <a:bodyPr/>
          <a:lstStyle/>
          <a:p>
            <a:r>
              <a:rPr lang="en-US" dirty="0"/>
              <a:t>Why Use Branching?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DF22A-C8F7-FEF8-FA0A-E005E47E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168768"/>
            <a:ext cx="7288212" cy="400136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Keeps the main branch stable and clean while allowing for parallel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Enables collaboration by allowing multiple team members to work on different branches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Helps avoid conflicts by isolating changes in dedicated branches.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458C-8A86-A0B4-E238-5929312C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90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F3B0-C4FF-2189-C861-D045ED78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091517"/>
          </a:xfrm>
        </p:spPr>
        <p:txBody>
          <a:bodyPr/>
          <a:lstStyle/>
          <a:p>
            <a:r>
              <a:rPr lang="en-US" dirty="0"/>
              <a:t>How to Use 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498F3-7E72-8155-0BF8-E0354FF2C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110154"/>
            <a:ext cx="7288212" cy="4059975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• When you create a branch, Git duplicates the current state of the repository into the new branch.</a:t>
            </a:r>
          </a:p>
          <a:p>
            <a:pPr>
              <a:spcBef>
                <a:spcPts val="900"/>
              </a:spcBef>
            </a:pP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• You can switch between branches to work on different versions of the project.</a:t>
            </a:r>
          </a:p>
          <a:p>
            <a:pPr>
              <a:spcBef>
                <a:spcPts val="900"/>
              </a:spcBef>
            </a:pP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• Once the changes in a branch are complete, you can merge them back into the main branch.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521AD-19C9-6473-64AC-752DED8D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235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F22B-B20C-4A99-7595-8161220C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161855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3D07C-5058-1632-82F6-F0CFF784D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4062" y="1910862"/>
            <a:ext cx="6926872" cy="4259267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Create a branch: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Create a new branch for each feature, bug fix, or experiment.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Make changes: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Work on the new branch without impacting the main branch.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Merge the branch: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Once your changes are complete and tested, merge the branch into the main branch.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E0E0E"/>
                </a:solidFill>
                <a:effectLst/>
                <a:latin typeface=".AppleSystemUIFont"/>
              </a:rPr>
              <a:t>Delete the branch:</a:t>
            </a:r>
            <a:r>
              <a:rPr lang="en-US" sz="24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sz="2400" b="0" dirty="0">
                <a:solidFill>
                  <a:srgbClr val="0E0E0E"/>
                </a:solidFill>
                <a:effectLst/>
                <a:latin typeface=".AppleSystemUIFont"/>
              </a:rPr>
              <a:t>After merging, you can delete the branch to keep your repository clean.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64499-D6C3-213D-A8CF-B65E39CE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CEBA5-D34F-BF16-56B2-91713041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934" y="268360"/>
            <a:ext cx="41529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55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DD40-9FFC-5CE5-D3A5-B074B5E7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A95E-8E4B-1D11-AC3F-3307B7D1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868778"/>
          </a:xfrm>
        </p:spPr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5607-3E97-43D7-9418-A10EF54E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133600"/>
            <a:ext cx="7288212" cy="4036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Follow the 4_branching.md file in the Practice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Create a branch and make edits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Create a pull request and merge with the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Delete a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6B281-E5E9-7028-45F0-1D3FC644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510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05FA-5961-214E-BB4D-6BF632F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28A5-D9E5-51A3-0575-C4AA4F95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205" y="406400"/>
            <a:ext cx="5383004" cy="3457971"/>
          </a:xfrm>
        </p:spPr>
        <p:txBody>
          <a:bodyPr/>
          <a:lstStyle/>
          <a:p>
            <a:r>
              <a:rPr lang="en-US" dirty="0"/>
              <a:t>Create a Branch</a:t>
            </a:r>
          </a:p>
        </p:txBody>
      </p:sp>
    </p:spTree>
    <p:extLst>
      <p:ext uri="{BB962C8B-B14F-4D97-AF65-F5344CB8AC3E}">
        <p14:creationId xmlns:p14="http://schemas.microsoft.com/office/powerpoint/2010/main" val="16675279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CB52-B29D-15E6-398C-1DDA605F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518" y="282214"/>
            <a:ext cx="7288282" cy="986009"/>
          </a:xfrm>
        </p:spPr>
        <p:txBody>
          <a:bodyPr/>
          <a:lstStyle/>
          <a:p>
            <a:r>
              <a:rPr lang="en-US" dirty="0"/>
              <a:t>Learn More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8AA6E-7132-F515-8012-1B48FFC2E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0129F-517B-E5F4-34AE-AD4283F7A0A8}"/>
              </a:ext>
            </a:extLst>
          </p:cNvPr>
          <p:cNvSpPr txBox="1"/>
          <p:nvPr/>
        </p:nvSpPr>
        <p:spPr>
          <a:xfrm>
            <a:off x="1104901" y="2493963"/>
            <a:ext cx="270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/skills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72264-30E4-3E2A-D3CD-5A8D36E7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603720"/>
            <a:ext cx="7772400" cy="56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24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0490"/>
            <a:ext cx="7288282" cy="729788"/>
          </a:xfrm>
        </p:spPr>
        <p:txBody>
          <a:bodyPr>
            <a:normAutofit/>
          </a:bodyPr>
          <a:lstStyle/>
          <a:p>
            <a:r>
              <a:rPr lang="en-US" sz="3200" dirty="0"/>
              <a:t>GitHub Pages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6F6660-6B02-6076-98A8-FCBA6DB7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962015" cy="7037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E6F959-3AE2-387E-E4B9-26EF632052EF}"/>
              </a:ext>
            </a:extLst>
          </p:cNvPr>
          <p:cNvSpPr txBox="1"/>
          <p:nvPr/>
        </p:nvSpPr>
        <p:spPr>
          <a:xfrm>
            <a:off x="82062" y="1207477"/>
            <a:ext cx="5802923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What Are GitHub Pages?</a:t>
            </a:r>
            <a:r>
              <a:rPr lang="en-US" sz="2200" b="1" dirty="0">
                <a:solidFill>
                  <a:srgbClr val="0E0E0E"/>
                </a:solidFill>
                <a:latin typeface="Tenorite" pitchFamily="2" charset="0"/>
              </a:rPr>
              <a:t> 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GitHub Pages is a feature that allows you to host static websites directly from your GitHub repository. It’s often used for personal portfolios, project documentation, or blogs.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How to Enable GitHub Pages:</a:t>
            </a:r>
            <a:r>
              <a:rPr lang="en-US" sz="2200" b="1" dirty="0">
                <a:solidFill>
                  <a:srgbClr val="0E0E0E"/>
                </a:solidFill>
                <a:latin typeface="Tenorite" pitchFamily="2" charset="0"/>
              </a:rPr>
              <a:t> 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Go to the repository’s </a:t>
            </a: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Settings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 &gt; </a:t>
            </a: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Pages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, select the branch and folder (e.g., main and /root), and click </a:t>
            </a: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Save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. Your site will be live at https://</a:t>
            </a:r>
            <a:r>
              <a:rPr lang="en-US" sz="2200" dirty="0" err="1">
                <a:solidFill>
                  <a:srgbClr val="0E0E0E"/>
                </a:solidFill>
                <a:effectLst/>
                <a:latin typeface="Tenorite" pitchFamily="2" charset="0"/>
              </a:rPr>
              <a:t>username.github.io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/repository-name.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E0E0E"/>
                </a:solidFill>
                <a:effectLst/>
                <a:latin typeface="Tenorite" pitchFamily="2" charset="0"/>
              </a:rPr>
              <a:t>What Can You Publish?</a:t>
            </a:r>
            <a:r>
              <a:rPr lang="en-US" sz="2200" b="1" dirty="0">
                <a:solidFill>
                  <a:srgbClr val="0E0E0E"/>
                </a:solidFill>
                <a:latin typeface="Tenorite" pitchFamily="2" charset="0"/>
              </a:rPr>
              <a:t> 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Websites created with Markdown or HTML, CSS, and JavaScript files. The starting page will be </a:t>
            </a:r>
            <a:r>
              <a:rPr lang="en-US" sz="2200" dirty="0" err="1">
                <a:solidFill>
                  <a:srgbClr val="0E0E0E"/>
                </a:solidFill>
                <a:effectLst/>
                <a:latin typeface="Tenorite" pitchFamily="2" charset="0"/>
              </a:rPr>
              <a:t>index.md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 or </a:t>
            </a:r>
            <a:r>
              <a:rPr lang="en-US" sz="2200" dirty="0" err="1">
                <a:solidFill>
                  <a:srgbClr val="0E0E0E"/>
                </a:solidFill>
                <a:effectLst/>
                <a:latin typeface="Tenorite" pitchFamily="2" charset="0"/>
              </a:rPr>
              <a:t>index.html</a:t>
            </a:r>
            <a:r>
              <a:rPr lang="en-US" sz="2200" dirty="0">
                <a:solidFill>
                  <a:srgbClr val="0E0E0E"/>
                </a:solidFill>
                <a:effectLst/>
                <a:latin typeface="Tenorite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5941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D7F3-0ACA-9FF1-FED3-807CB46C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718" y="-290385"/>
            <a:ext cx="7288282" cy="853822"/>
          </a:xfrm>
        </p:spPr>
        <p:txBody>
          <a:bodyPr/>
          <a:lstStyle/>
          <a:p>
            <a:r>
              <a:rPr lang="en-US" dirty="0"/>
              <a:t>Markdown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BF608-FDDE-0EDC-6557-A7017C16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F1BC5-DD03-6CF6-D29E-FD147416B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3437"/>
            <a:ext cx="12192000" cy="79183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707906-5B5F-D317-6506-EE77806C1251}"/>
              </a:ext>
            </a:extLst>
          </p:cNvPr>
          <p:cNvSpPr txBox="1"/>
          <p:nvPr/>
        </p:nvSpPr>
        <p:spPr>
          <a:xfrm>
            <a:off x="328244" y="5940850"/>
            <a:ext cx="4954956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You can make a complete GitHub Pages Site with Markdown</a:t>
            </a:r>
          </a:p>
        </p:txBody>
      </p:sp>
    </p:spTree>
    <p:extLst>
      <p:ext uri="{BB962C8B-B14F-4D97-AF65-F5344CB8AC3E}">
        <p14:creationId xmlns:p14="http://schemas.microsoft.com/office/powerpoint/2010/main" val="31214333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9EBB-6A6E-8BC8-ACFA-17A43D6E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E7154-C1DC-FCE5-2951-79D288D492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1123-21D2-B3B8-9F57-CD6098E7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A26BF-A36F-E1A1-A02B-7B6C9AC1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617088" cy="8194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42367-8DAE-013E-FCE1-95899019C7D4}"/>
              </a:ext>
            </a:extLst>
          </p:cNvPr>
          <p:cNvSpPr txBox="1"/>
          <p:nvPr/>
        </p:nvSpPr>
        <p:spPr>
          <a:xfrm>
            <a:off x="504092" y="5521145"/>
            <a:ext cx="4173416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You can make GitHub Pages with HTML—For Example, by rendering an R markdown file.</a:t>
            </a:r>
          </a:p>
        </p:txBody>
      </p:sp>
    </p:spTree>
    <p:extLst>
      <p:ext uri="{BB962C8B-B14F-4D97-AF65-F5344CB8AC3E}">
        <p14:creationId xmlns:p14="http://schemas.microsoft.com/office/powerpoint/2010/main" val="31646017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F334-2398-8B12-E49D-3CD06282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041" y="60739"/>
            <a:ext cx="7288282" cy="587425"/>
          </a:xfrm>
        </p:spPr>
        <p:txBody>
          <a:bodyPr/>
          <a:lstStyle/>
          <a:p>
            <a:r>
              <a:rPr lang="en-US" dirty="0"/>
              <a:t>GitHub Website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E9C9-1F51-A6AB-E934-0177F850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5" name="Content Placeholder 3" descr="A screenshot of a website&#10;&#10;Description automatically generated">
            <a:extLst>
              <a:ext uri="{FF2B5EF4-FFF2-40B4-BE49-F238E27FC236}">
                <a16:creationId xmlns:a16="http://schemas.microsoft.com/office/drawing/2014/main" id="{6175E174-BAC0-D738-57E0-4A7762D4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" r="399"/>
          <a:stretch/>
        </p:blipFill>
        <p:spPr>
          <a:xfrm>
            <a:off x="5306291" y="648164"/>
            <a:ext cx="7067103" cy="5708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F5D55-EE24-82BB-F954-564CDF6631C1}"/>
              </a:ext>
            </a:extLst>
          </p:cNvPr>
          <p:cNvSpPr txBox="1"/>
          <p:nvPr/>
        </p:nvSpPr>
        <p:spPr>
          <a:xfrm>
            <a:off x="117231" y="791184"/>
            <a:ext cx="5099538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0E0E"/>
                </a:solidFill>
                <a:effectLst/>
                <a:latin typeface=".AppleSystemUIFont"/>
              </a:rPr>
              <a:t>What is a Personal Website on GitHub Pages?</a:t>
            </a:r>
            <a:endParaRPr lang="en-US" sz="2200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A </a:t>
            </a:r>
            <a:r>
              <a:rPr lang="en-US" sz="2200" i="1" dirty="0" err="1">
                <a:solidFill>
                  <a:srgbClr val="0E0E0E"/>
                </a:solidFill>
                <a:effectLst/>
                <a:latin typeface=".AppleSystemUIFontMonospaced"/>
              </a:rPr>
              <a:t>username</a:t>
            </a:r>
            <a:r>
              <a:rPr lang="en-US" sz="2200" dirty="0" err="1">
                <a:solidFill>
                  <a:srgbClr val="0E0E0E"/>
                </a:solidFill>
                <a:effectLst/>
                <a:latin typeface=".AppleSystemUIFontMonospaced"/>
              </a:rPr>
              <a:t>.github.io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 repository hosts your personal website, which becomes accessible at 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Monospaced"/>
              </a:rPr>
              <a:t>https://</a:t>
            </a:r>
            <a:r>
              <a:rPr lang="en-US" sz="2200" i="1" dirty="0" err="1">
                <a:solidFill>
                  <a:srgbClr val="0E0E0E"/>
                </a:solidFill>
                <a:effectLst/>
                <a:latin typeface=".AppleSystemUIFontMonospaced"/>
              </a:rPr>
              <a:t>username</a:t>
            </a:r>
            <a:r>
              <a:rPr lang="en-US" sz="2200" dirty="0" err="1">
                <a:solidFill>
                  <a:srgbClr val="0E0E0E"/>
                </a:solidFill>
                <a:effectLst/>
                <a:latin typeface=".AppleSystemUIFontMonospaced"/>
              </a:rPr>
              <a:t>.github.io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. It’s ideal for portfolios, resumes, or blogs.</a:t>
            </a:r>
          </a:p>
          <a:p>
            <a:pPr>
              <a:spcBef>
                <a:spcPts val="900"/>
              </a:spcBef>
            </a:pPr>
            <a:r>
              <a:rPr lang="en-US" sz="2200" b="1" dirty="0">
                <a:solidFill>
                  <a:srgbClr val="0E0E0E"/>
                </a:solidFill>
                <a:effectLst/>
                <a:latin typeface=".AppleSystemUIFont"/>
              </a:rPr>
              <a:t>How to Set It Up:</a:t>
            </a:r>
            <a:endParaRPr lang="en-US" sz="2200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Create a new repository named </a:t>
            </a:r>
            <a:r>
              <a:rPr lang="en-US" sz="2200" i="1" dirty="0" err="1">
                <a:solidFill>
                  <a:srgbClr val="0E0E0E"/>
                </a:solidFill>
                <a:effectLst/>
                <a:latin typeface=".AppleSystemUIFontMonospaced"/>
              </a:rPr>
              <a:t>username</a:t>
            </a:r>
            <a:r>
              <a:rPr lang="en-US" sz="2200" dirty="0" err="1">
                <a:solidFill>
                  <a:srgbClr val="0E0E0E"/>
                </a:solidFill>
                <a:effectLst/>
                <a:latin typeface=".AppleSystemUIFontMonospaced"/>
              </a:rPr>
              <a:t>.github.io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Add HTML, CSS, or Markdown files to design your website.</a:t>
            </a:r>
          </a:p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The site will automatically be published at 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Monospaced"/>
              </a:rPr>
              <a:t>https://</a:t>
            </a:r>
            <a:r>
              <a:rPr lang="en-US" sz="2200" i="1" dirty="0" err="1">
                <a:solidFill>
                  <a:srgbClr val="0E0E0E"/>
                </a:solidFill>
                <a:effectLst/>
                <a:latin typeface=".AppleSystemUIFontMonospaced"/>
              </a:rPr>
              <a:t>username</a:t>
            </a:r>
            <a:r>
              <a:rPr lang="en-US" sz="2200" dirty="0" err="1">
                <a:solidFill>
                  <a:srgbClr val="0E0E0E"/>
                </a:solidFill>
                <a:effectLst/>
                <a:latin typeface=".AppleSystemUIFontMonospaced"/>
              </a:rPr>
              <a:t>.github.io</a:t>
            </a:r>
            <a:r>
              <a:rPr lang="en-US" sz="22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039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7736-0E31-89B7-054C-DF7A607E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009455"/>
          </a:xfrm>
        </p:spPr>
        <p:txBody>
          <a:bodyPr/>
          <a:lstStyle/>
          <a:p>
            <a:r>
              <a:rPr lang="en-US" dirty="0"/>
              <a:t>Template Files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1F78B9-CC8C-6D4B-FF3E-6687EAFB99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16"/>
          <a:stretch/>
        </p:blipFill>
        <p:spPr>
          <a:xfrm>
            <a:off x="831098" y="1660005"/>
            <a:ext cx="9859108" cy="471392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55ACD-43DF-DAB8-DFF3-40BF4D22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D61BA-905D-752B-9330-70977C64CD91}"/>
              </a:ext>
            </a:extLst>
          </p:cNvPr>
          <p:cNvSpPr txBox="1"/>
          <p:nvPr/>
        </p:nvSpPr>
        <p:spPr>
          <a:xfrm>
            <a:off x="6199934" y="3821299"/>
            <a:ext cx="4173416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 have provided some template files for you to edit to create your own website. Let’s go through the files.</a:t>
            </a:r>
          </a:p>
        </p:txBody>
      </p:sp>
    </p:spTree>
    <p:extLst>
      <p:ext uri="{BB962C8B-B14F-4D97-AF65-F5344CB8AC3E}">
        <p14:creationId xmlns:p14="http://schemas.microsoft.com/office/powerpoint/2010/main" val="4197344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7C4A-AB56-06A0-048D-0B308BB5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55" y="1304579"/>
            <a:ext cx="3358337" cy="1218066"/>
          </a:xfrm>
        </p:spPr>
        <p:txBody>
          <a:bodyPr/>
          <a:lstStyle/>
          <a:p>
            <a:r>
              <a:rPr lang="en-US" dirty="0"/>
              <a:t>HTML</a:t>
            </a:r>
            <a:r>
              <a:rPr lang="en-US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9295-089F-CB1E-D2C5-601A9C4CB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389" y="4595446"/>
            <a:ext cx="6928703" cy="15746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0" dirty="0">
                <a:solidFill>
                  <a:srgbClr val="001D35"/>
                </a:solidFill>
                <a:ea typeface="+mn-lt"/>
                <a:cs typeface="+mn-lt"/>
              </a:rPr>
              <a:t>Hypertext Markup Language (HTML) is </a:t>
            </a:r>
            <a:r>
              <a:rPr lang="en-US" sz="2400" b="0" dirty="0">
                <a:ea typeface="+mn-lt"/>
                <a:cs typeface="+mn-lt"/>
              </a:rPr>
              <a:t>a computer language that's used to structure and define the content of a web page.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064D2-20BD-CDBC-A046-D7660372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F484F30-27BB-86C0-FD79-4CF6BB2CC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449" y="136526"/>
            <a:ext cx="8962551" cy="36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967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46599-60FC-72C2-4821-59953002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3F1E4-F971-BB0F-FA9A-C0B9F483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18" y="3570598"/>
            <a:ext cx="7772400" cy="278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49423-A0FA-A687-24EB-5AFE3D63D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318" y="687871"/>
            <a:ext cx="7772400" cy="2146966"/>
          </a:xfrm>
          <a:prstGeom prst="rect">
            <a:avLst/>
          </a:prstGeom>
        </p:spPr>
      </p:pic>
      <p:sp>
        <p:nvSpPr>
          <p:cNvPr id="2" name="U-Turn Arrow 1">
            <a:extLst>
              <a:ext uri="{FF2B5EF4-FFF2-40B4-BE49-F238E27FC236}">
                <a16:creationId xmlns:a16="http://schemas.microsoft.com/office/drawing/2014/main" id="{910FDF02-BDE0-2D6F-E067-B24C81C7E9D6}"/>
              </a:ext>
            </a:extLst>
          </p:cNvPr>
          <p:cNvSpPr/>
          <p:nvPr/>
        </p:nvSpPr>
        <p:spPr>
          <a:xfrm rot="5400000" flipH="1">
            <a:off x="8704165" y="2519786"/>
            <a:ext cx="2785752" cy="2004646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FB6C81-9DF0-E0B0-8822-0F83EA981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718" y="4925495"/>
            <a:ext cx="2933700" cy="635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53CA9B2-65FE-9E16-DB85-A46ADDCF1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884" y="2345307"/>
            <a:ext cx="549878" cy="54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4161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5146-3407-18F6-9BF4-F998E674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EB4C6DA-AA17-273B-C7D7-2975C91720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1" t="16538" r="19981" b="27719"/>
          <a:stretch/>
        </p:blipFill>
        <p:spPr>
          <a:xfrm>
            <a:off x="3101156" y="0"/>
            <a:ext cx="9043853" cy="39858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90F68-3552-6170-5742-208526CD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E3EA1-514A-7BEB-E752-81435038916F}"/>
              </a:ext>
            </a:extLst>
          </p:cNvPr>
          <p:cNvSpPr txBox="1"/>
          <p:nvPr/>
        </p:nvSpPr>
        <p:spPr>
          <a:xfrm>
            <a:off x="849923" y="4570933"/>
            <a:ext cx="1049215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Cascading Style Sheets (CSS) is a style sheet language used for specifying the presentation and styling of a document written in a markup language such as HTML</a:t>
            </a:r>
          </a:p>
        </p:txBody>
      </p:sp>
    </p:spTree>
    <p:extLst>
      <p:ext uri="{BB962C8B-B14F-4D97-AF65-F5344CB8AC3E}">
        <p14:creationId xmlns:p14="http://schemas.microsoft.com/office/powerpoint/2010/main" val="16019556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2C79-3847-B1CB-BAA1-18762142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198917"/>
          </a:xfrm>
        </p:spPr>
        <p:txBody>
          <a:bodyPr/>
          <a:lstStyle/>
          <a:p>
            <a:r>
              <a:rPr lang="en-US" dirty="0" err="1"/>
              <a:t>Script.js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4F6DF-5811-0BEE-972C-F087A90B7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8586" y="1617785"/>
            <a:ext cx="3141704" cy="4738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0" dirty="0"/>
              <a:t>JS (JavaScript) are files that contain JavaScript code for execution on web pages.</a:t>
            </a:r>
          </a:p>
          <a:p>
            <a:endParaRPr lang="en-US" sz="2400" b="0" dirty="0"/>
          </a:p>
          <a:p>
            <a:r>
              <a:rPr lang="en-US" sz="2400" b="0" dirty="0"/>
              <a:t>In this case we only have one code that causes the menu to fold into a “hamburger” style on a mobile device.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A69A4-E07B-665B-82D0-C4D779E4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FAE62A1-4BE4-8A24-E3CA-3A463E2A2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07" r="43153"/>
          <a:stretch/>
        </p:blipFill>
        <p:spPr>
          <a:xfrm>
            <a:off x="3542730" y="-12024"/>
            <a:ext cx="8649269" cy="3442985"/>
          </a:xfrm>
          <a:prstGeom prst="rect">
            <a:avLst/>
          </a:prstGeom>
        </p:spPr>
      </p:pic>
      <p:pic>
        <p:nvPicPr>
          <p:cNvPr id="6" name="Picture 5" descr="A screenshot of a person holding a dog&#10;&#10;Description automatically generated">
            <a:extLst>
              <a:ext uri="{FF2B5EF4-FFF2-40B4-BE49-F238E27FC236}">
                <a16:creationId xmlns:a16="http://schemas.microsoft.com/office/drawing/2014/main" id="{C863AE8E-4FAF-BCDA-FC9D-9529753B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22" r="573" b="9504"/>
          <a:stretch/>
        </p:blipFill>
        <p:spPr>
          <a:xfrm>
            <a:off x="4011471" y="3237449"/>
            <a:ext cx="2112927" cy="3601255"/>
          </a:xfrm>
          <a:prstGeom prst="rect">
            <a:avLst/>
          </a:prstGeom>
        </p:spPr>
      </p:pic>
      <p:pic>
        <p:nvPicPr>
          <p:cNvPr id="7" name="Picture 6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1E63350D-E495-A838-3C65-051C4D154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958" y="3537043"/>
            <a:ext cx="4238565" cy="185368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3A7D99-A608-DFAC-1612-75FF7B1B65E8}"/>
              </a:ext>
            </a:extLst>
          </p:cNvPr>
          <p:cNvSpPr/>
          <p:nvPr/>
        </p:nvSpPr>
        <p:spPr>
          <a:xfrm>
            <a:off x="4009031" y="3352799"/>
            <a:ext cx="204716" cy="193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45CF33-6D55-F2C8-373D-33A0C87D603B}"/>
              </a:ext>
            </a:extLst>
          </p:cNvPr>
          <p:cNvCxnSpPr>
            <a:cxnSpLocks/>
          </p:cNvCxnSpPr>
          <p:nvPr/>
        </p:nvCxnSpPr>
        <p:spPr>
          <a:xfrm>
            <a:off x="4226685" y="3352799"/>
            <a:ext cx="2656335" cy="18424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0C3B8E-77DD-3047-BCB3-DBF67F95559C}"/>
              </a:ext>
            </a:extLst>
          </p:cNvPr>
          <p:cNvCxnSpPr>
            <a:cxnSpLocks/>
          </p:cNvCxnSpPr>
          <p:nvPr/>
        </p:nvCxnSpPr>
        <p:spPr>
          <a:xfrm>
            <a:off x="4226685" y="3537043"/>
            <a:ext cx="2656335" cy="183334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027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C5886B-DD22-8FB7-7D1D-A38033AE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2CC45-2C2E-75C4-C822-53DDB246A5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Look up templates for your websites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72764-CB0F-1252-FF1B-D19172ED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77" y="3907803"/>
            <a:ext cx="2540000" cy="111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D19F75-E10E-6A3B-C1DC-37BA12CE6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025" y="1576236"/>
            <a:ext cx="4539150" cy="4663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417B4C-05AA-8615-AF0E-95929E2A0616}"/>
              </a:ext>
            </a:extLst>
          </p:cNvPr>
          <p:cNvSpPr txBox="1"/>
          <p:nvPr/>
        </p:nvSpPr>
        <p:spPr>
          <a:xfrm>
            <a:off x="2441331" y="5025403"/>
            <a:ext cx="2083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bulma.io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618817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2155-91E9-7F0B-AD82-8366C26D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2C60-3AD3-8506-9624-9761782D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431486"/>
          </a:xfrm>
        </p:spPr>
        <p:txBody>
          <a:bodyPr/>
          <a:lstStyle/>
          <a:p>
            <a:r>
              <a:rPr lang="en-US" dirty="0"/>
              <a:t>GitHub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1B4C3-A05E-1C27-2602-E738A0353B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Follow the 5_website.md file in the Practice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Clone this workshop repository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Copy and edit website template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Publish your GitHub Pages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ABAC9-210C-248E-3636-B2866B91D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0234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205" y="406400"/>
            <a:ext cx="5383004" cy="3457971"/>
          </a:xfrm>
        </p:spPr>
        <p:txBody>
          <a:bodyPr/>
          <a:lstStyle/>
          <a:p>
            <a:r>
              <a:rPr lang="en-US" dirty="0"/>
              <a:t>Create a GitHub Page</a:t>
            </a:r>
          </a:p>
        </p:txBody>
      </p:sp>
    </p:spTree>
    <p:extLst>
      <p:ext uri="{BB962C8B-B14F-4D97-AF65-F5344CB8AC3E}">
        <p14:creationId xmlns:p14="http://schemas.microsoft.com/office/powerpoint/2010/main" val="7498727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rgbClr val="FFFFFF"/>
                </a:solidFill>
                <a:latin typeface="Tenorite"/>
              </a:rPr>
              <a:t>THANK YOU</a:t>
            </a:r>
            <a:endParaRPr lang="en-US" sz="3600" b="0" strike="noStrike" spc="-1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ubTitle"/>
          </p:nvPr>
        </p:nvSpPr>
        <p:spPr>
          <a:xfrm>
            <a:off x="4267080" y="3238200"/>
            <a:ext cx="4179240" cy="284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rgbClr val="FFFFFF"/>
                </a:solidFill>
                <a:latin typeface="Tenorite"/>
              </a:rPr>
              <a:t>References: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sng" strike="noStrike" spc="49">
                <a:solidFill>
                  <a:srgbClr val="0563C1"/>
                </a:solidFill>
                <a:uFillTx/>
                <a:latin typeface="Tenorite"/>
                <a:ea typeface="Tenorite"/>
                <a:hlinkClick r:id="rId3"/>
              </a:rPr>
              <a:t>https://docs.github.com/en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sng" strike="noStrike" spc="49">
                <a:solidFill>
                  <a:srgbClr val="0563C1"/>
                </a:solidFill>
                <a:uFillTx/>
                <a:latin typeface="Tenorite"/>
                <a:ea typeface="Tenorite"/>
                <a:hlinkClick r:id="rId4"/>
              </a:rPr>
              <a:t>https://git-scm.com/book/en/v2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3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8B8B8B"/>
                </a:solidFill>
                <a:latin typeface="Tenorite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3A6018-8CE5-4C9D-A964-F0AEF0046CE3}" type="slidenum">
              <a:rPr lang="en-US" sz="900" b="0" strike="noStrike" spc="-1">
                <a:solidFill>
                  <a:srgbClr val="8B8B8B"/>
                </a:solidFill>
                <a:latin typeface="Tenorite"/>
              </a:rPr>
              <a:t>72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</TotalTime>
  <Words>2371</Words>
  <Application>Microsoft Macintosh PowerPoint</Application>
  <PresentationFormat>Widescreen</PresentationFormat>
  <Paragraphs>454</Paragraphs>
  <Slides>72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72</vt:i4>
      </vt:variant>
    </vt:vector>
  </HeadingPairs>
  <TitlesOfParts>
    <vt:vector size="84" baseType="lpstr">
      <vt:lpstr>.AppleSystemUIFont</vt:lpstr>
      <vt:lpstr>.AppleSystemUIFontMonospaced</vt:lpstr>
      <vt:lpstr>Arial</vt:lpstr>
      <vt:lpstr>Calibri</vt:lpstr>
      <vt:lpstr>Symbol</vt:lpstr>
      <vt:lpstr>Tenorite</vt:lpstr>
      <vt:lpstr>Times New Roman</vt:lpstr>
      <vt:lpstr>Wingdings</vt:lpstr>
      <vt:lpstr>Office Theme</vt:lpstr>
      <vt:lpstr>Office Theme</vt:lpstr>
      <vt:lpstr>Office Theme</vt:lpstr>
      <vt:lpstr>Office Theme</vt:lpstr>
      <vt:lpstr>Version Control and GitHub  GitHub Workshop</vt:lpstr>
      <vt:lpstr>Outline</vt:lpstr>
      <vt:lpstr>Version Control</vt:lpstr>
      <vt:lpstr>Version Control</vt:lpstr>
      <vt:lpstr>Git</vt:lpstr>
      <vt:lpstr>Git</vt:lpstr>
      <vt:lpstr>Git</vt:lpstr>
      <vt:lpstr>Git</vt:lpstr>
      <vt:lpstr>Git</vt:lpstr>
      <vt:lpstr>Git</vt:lpstr>
      <vt:lpstr>GitHub</vt:lpstr>
      <vt:lpstr>GitHub Definitions</vt:lpstr>
      <vt:lpstr>What is a repository?</vt:lpstr>
      <vt:lpstr>Remote Location </vt:lpstr>
      <vt:lpstr>Remote Location </vt:lpstr>
      <vt:lpstr>Remote Location </vt:lpstr>
      <vt:lpstr>Remote Location </vt:lpstr>
      <vt:lpstr>Remote Location </vt:lpstr>
      <vt:lpstr>Remote Location </vt:lpstr>
      <vt:lpstr>Setting up a Repository</vt:lpstr>
      <vt:lpstr>GitHub</vt:lpstr>
      <vt:lpstr>GitHub</vt:lpstr>
      <vt:lpstr>GitHub</vt:lpstr>
      <vt:lpstr>GitHub</vt:lpstr>
      <vt:lpstr>PowerPoint Presentation</vt:lpstr>
      <vt:lpstr>PowerPoint Presentation</vt:lpstr>
      <vt:lpstr>Text Editor</vt:lpstr>
      <vt:lpstr>Hands-ON: Create a GitHub Repository</vt:lpstr>
      <vt:lpstr>Create a Repository</vt:lpstr>
      <vt:lpstr>What is Cloning?</vt:lpstr>
      <vt:lpstr>Hands-On: Cloning</vt:lpstr>
      <vt:lpstr>Clone a Repository</vt:lpstr>
      <vt:lpstr>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Remote Location – Collaboration</vt:lpstr>
      <vt:lpstr>Collaboration</vt:lpstr>
      <vt:lpstr>Cloning Other Repositories</vt:lpstr>
      <vt:lpstr>PowerPoint Presentation</vt:lpstr>
      <vt:lpstr>PowerPoint Presentation</vt:lpstr>
      <vt:lpstr>Resolving Conflicts</vt:lpstr>
      <vt:lpstr>Collaborate</vt:lpstr>
      <vt:lpstr>Collaborate</vt:lpstr>
      <vt:lpstr>BRANCHING</vt:lpstr>
      <vt:lpstr>Why Use Branching?</vt:lpstr>
      <vt:lpstr>How to Use Branching</vt:lpstr>
      <vt:lpstr>Workflow</vt:lpstr>
      <vt:lpstr>Branching</vt:lpstr>
      <vt:lpstr>Create a Branch</vt:lpstr>
      <vt:lpstr>Learn More</vt:lpstr>
      <vt:lpstr>GitHub Pages</vt:lpstr>
      <vt:lpstr>Markdown</vt:lpstr>
      <vt:lpstr>PowerPoint Presentation</vt:lpstr>
      <vt:lpstr>GitHub Website </vt:lpstr>
      <vt:lpstr>Template Files</vt:lpstr>
      <vt:lpstr>HTML files</vt:lpstr>
      <vt:lpstr>PowerPoint Presentation</vt:lpstr>
      <vt:lpstr>css</vt:lpstr>
      <vt:lpstr>Script.js</vt:lpstr>
      <vt:lpstr>Templates</vt:lpstr>
      <vt:lpstr>GitHub Pages</vt:lpstr>
      <vt:lpstr>Create a GitHub Page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Cassandra K Hui</cp:lastModifiedBy>
  <cp:revision>818</cp:revision>
  <dcterms:created xsi:type="dcterms:W3CDTF">2024-10-17T20:30:32Z</dcterms:created>
  <dcterms:modified xsi:type="dcterms:W3CDTF">2026-03-26T19:56:24Z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18</vt:i4>
  </property>
  <property fmtid="{D5CDD505-2E9C-101B-9397-08002B2CF9AE}" pid="5" name="PresentationFormat">
    <vt:lpwstr>Widescreen</vt:lpwstr>
  </property>
  <property fmtid="{D5CDD505-2E9C-101B-9397-08002B2CF9AE}" pid="6" name="Slides">
    <vt:i4>24</vt:i4>
  </property>
</Properties>
</file>